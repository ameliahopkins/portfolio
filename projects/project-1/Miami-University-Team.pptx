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6" r:id="rId11"/>
    <p:sldId id="269" r:id="rId12"/>
    <p:sldId id="270" r:id="rId13"/>
    <p:sldId id="271" r:id="rId14"/>
    <p:sldId id="282" r:id="rId15"/>
    <p:sldId id="283" r:id="rId16"/>
    <p:sldId id="284" r:id="rId17"/>
    <p:sldId id="285" r:id="rId18"/>
    <p:sldId id="272" r:id="rId19"/>
    <p:sldId id="274" r:id="rId20"/>
    <p:sldId id="275" r:id="rId21"/>
    <p:sldId id="277" r:id="rId22"/>
    <p:sldId id="287" r:id="rId23"/>
    <p:sldId id="286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Playfair Display" pitchFamily="2" charset="77"/>
      <p:regular r:id="rId29"/>
      <p:bold r:id="rId30"/>
      <p:italic r:id="rId31"/>
      <p:boldItalic r:id="rId32"/>
    </p:embeddedFont>
    <p:embeddedFont>
      <p:font typeface="Public Sans" pitchFamily="2" charset="77"/>
      <p:regular r:id="rId33"/>
    </p:embeddedFont>
    <p:embeddedFont>
      <p:font typeface="Public Sans Bold" pitchFamily="2" charset="77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90094-42F0-4088-9674-CB08482F4F23}" v="1716" dt="2025-11-05T16:40:26.464"/>
    <p1510:client id="{77559477-E2C7-46FA-AA76-44C89C26A9D3}" v="1962" dt="2025-11-04T00:47:00.462"/>
    <p1510:client id="{CE2AF66D-34AD-48AC-8DA8-48A347BD8FA7}" v="6046" dt="2025-11-03T23:55:33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55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AEB4-8C3E-F99A-7637-1EC7C4943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8619F3-3208-279A-5D2D-FD24C3FAB5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12F78-7963-8F86-B8FD-AA36A9D11A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713EF87-A900-8923-4715-05FCBD86D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AFE563-A613-E67C-A922-22AF41C9F3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AF249-819B-9EB1-BDE3-281A7E5197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A0AE2-066F-1D23-0200-8A1EEC6FB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7821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A603-2C0A-BE61-0242-1E1AF0A0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460EB-52F8-1C61-A219-35CC8371C6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FFBFE-13B7-DE3F-2033-03ED7D56A2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029EA-D594-97E9-86A6-0ABDA86CB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61FA742-D550-DB08-1ABC-CCFD4D9C4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7FE9B-473D-40B8-F7F5-220DF91D01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D0FB2-A402-CE90-57AF-8D1C582C7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35955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jpeg"/><Relationship Id="rId7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3.jpeg"/><Relationship Id="rId10" Type="http://schemas.openxmlformats.org/officeDocument/2006/relationships/image" Target="../media/image15.png"/><Relationship Id="rId4" Type="http://schemas.openxmlformats.org/officeDocument/2006/relationships/image" Target="../media/image4.jpe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Relationship Id="rId9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50745" y="8600704"/>
            <a:ext cx="1926124" cy="1486642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3" y="0"/>
                </a:lnTo>
                <a:lnTo>
                  <a:pt x="1926123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-68115"/>
            <a:ext cx="18289003" cy="1533756"/>
          </a:xfrm>
          <a:custGeom>
            <a:avLst/>
            <a:gdLst/>
            <a:ahLst/>
            <a:cxnLst/>
            <a:rect l="l" t="t" r="r" b="b"/>
            <a:pathLst>
              <a:path w="18629069" h="3517475">
                <a:moveTo>
                  <a:pt x="0" y="0"/>
                </a:moveTo>
                <a:lnTo>
                  <a:pt x="18629069" y="0"/>
                </a:lnTo>
                <a:lnTo>
                  <a:pt x="18629069" y="3517475"/>
                </a:lnTo>
                <a:lnTo>
                  <a:pt x="0" y="3517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665" b="-1842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1028700"/>
            <a:ext cx="18288000" cy="5475330"/>
          </a:xfrm>
          <a:custGeom>
            <a:avLst/>
            <a:gdLst/>
            <a:ahLst/>
            <a:cxnLst/>
            <a:rect l="l" t="t" r="r" b="b"/>
            <a:pathLst>
              <a:path w="18288000" h="5475330">
                <a:moveTo>
                  <a:pt x="0" y="0"/>
                </a:moveTo>
                <a:lnTo>
                  <a:pt x="18288000" y="0"/>
                </a:lnTo>
                <a:lnTo>
                  <a:pt x="18288000" y="5475330"/>
                </a:lnTo>
                <a:lnTo>
                  <a:pt x="0" y="5475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114" b="-864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4416500"/>
            <a:ext cx="18288000" cy="2867623"/>
          </a:xfrm>
          <a:custGeom>
            <a:avLst/>
            <a:gdLst/>
            <a:ahLst/>
            <a:cxnLst/>
            <a:rect l="l" t="t" r="r" b="b"/>
            <a:pathLst>
              <a:path w="18288000" h="2867623">
                <a:moveTo>
                  <a:pt x="0" y="0"/>
                </a:moveTo>
                <a:lnTo>
                  <a:pt x="18288000" y="0"/>
                </a:lnTo>
                <a:lnTo>
                  <a:pt x="18288000" y="2867622"/>
                </a:lnTo>
                <a:lnTo>
                  <a:pt x="0" y="2867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9774" r="-838" b="-1586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5807" y="6714485"/>
            <a:ext cx="18294810" cy="1675765"/>
          </a:xfrm>
          <a:custGeom>
            <a:avLst/>
            <a:gdLst/>
            <a:ahLst/>
            <a:cxnLst/>
            <a:rect l="l" t="t" r="r" b="b"/>
            <a:pathLst>
              <a:path w="18776569" h="1675765">
                <a:moveTo>
                  <a:pt x="0" y="0"/>
                </a:moveTo>
                <a:lnTo>
                  <a:pt x="18776569" y="0"/>
                </a:lnTo>
                <a:lnTo>
                  <a:pt x="18776569" y="1675764"/>
                </a:lnTo>
                <a:lnTo>
                  <a:pt x="0" y="16757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4691" b="-705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4917115"/>
            <a:ext cx="16230600" cy="131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ENTITY AND ASSET STRATEGIES DRIVE SAVINGS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9150" y="1932366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 in choice: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873490"/>
            <a:ext cx="7862435" cy="86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Deloitte Fantaxtic Competition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November 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798806" y="2245050"/>
            <a:ext cx="3783488" cy="2269305"/>
            <a:chOff x="0" y="0"/>
            <a:chExt cx="5044650" cy="302574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rcRect t="11612" b="48426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6964656" y="2245050"/>
            <a:ext cx="3783488" cy="2269305"/>
            <a:chOff x="0" y="0"/>
            <a:chExt cx="5044650" cy="302574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t="5570" b="5570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4326429" y="6735268"/>
            <a:ext cx="3783488" cy="2269305"/>
            <a:chOff x="0" y="0"/>
            <a:chExt cx="5044650" cy="302574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rcRect l="746" t="26452" r="4770" b="35836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443203" y="6735268"/>
            <a:ext cx="3783488" cy="2269305"/>
            <a:chOff x="0" y="0"/>
            <a:chExt cx="5044650" cy="302574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rcRect l="17513" r="17513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3307964" y="2073055"/>
            <a:ext cx="2998533" cy="2688178"/>
            <a:chOff x="0" y="0"/>
            <a:chExt cx="1379207" cy="12364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73814" y="2073055"/>
            <a:ext cx="2998533" cy="2688178"/>
            <a:chOff x="0" y="0"/>
            <a:chExt cx="1379207" cy="12364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07230" y="6535356"/>
            <a:ext cx="2998533" cy="2688178"/>
            <a:chOff x="0" y="0"/>
            <a:chExt cx="1379207" cy="12364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05369" y="2245050"/>
            <a:ext cx="3783488" cy="2269305"/>
            <a:chOff x="0" y="0"/>
            <a:chExt cx="5044650" cy="3025740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6"/>
            <a:srcRect l="20845" t="15738" r="26014" b="63012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sp>
        <p:nvSpPr>
          <p:cNvPr id="22" name="Freeform 22"/>
          <p:cNvSpPr/>
          <p:nvPr/>
        </p:nvSpPr>
        <p:spPr>
          <a:xfrm>
            <a:off x="16377130" y="8834084"/>
            <a:ext cx="1716330" cy="1324717"/>
          </a:xfrm>
          <a:custGeom>
            <a:avLst/>
            <a:gdLst/>
            <a:ahLst/>
            <a:cxnLst/>
            <a:rect l="l" t="t" r="r" b="b"/>
            <a:pathLst>
              <a:path w="1716330" h="1324717">
                <a:moveTo>
                  <a:pt x="0" y="0"/>
                </a:moveTo>
                <a:lnTo>
                  <a:pt x="1716330" y="0"/>
                </a:lnTo>
                <a:lnTo>
                  <a:pt x="1716330" y="1324717"/>
                </a:lnTo>
                <a:lnTo>
                  <a:pt x="0" y="13247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443203" y="6686663"/>
            <a:ext cx="3783488" cy="2385565"/>
          </a:xfrm>
          <a:custGeom>
            <a:avLst/>
            <a:gdLst/>
            <a:ahLst/>
            <a:cxnLst/>
            <a:rect l="l" t="t" r="r" b="b"/>
            <a:pathLst>
              <a:path w="3783488" h="2385565">
                <a:moveTo>
                  <a:pt x="0" y="0"/>
                </a:moveTo>
                <a:lnTo>
                  <a:pt x="3783488" y="0"/>
                </a:lnTo>
                <a:lnTo>
                  <a:pt x="3783488" y="2385564"/>
                </a:lnTo>
                <a:lnTo>
                  <a:pt x="0" y="23855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4371" b="-8352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8952361" y="6563273"/>
            <a:ext cx="2998533" cy="2688178"/>
            <a:chOff x="0" y="0"/>
            <a:chExt cx="1379207" cy="12364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1405369" y="2245050"/>
            <a:ext cx="3783488" cy="2268533"/>
          </a:xfrm>
          <a:custGeom>
            <a:avLst/>
            <a:gdLst/>
            <a:ahLst/>
            <a:cxnLst/>
            <a:rect l="l" t="t" r="r" b="b"/>
            <a:pathLst>
              <a:path w="3783488" h="2268533">
                <a:moveTo>
                  <a:pt x="0" y="0"/>
                </a:moveTo>
                <a:lnTo>
                  <a:pt x="3783488" y="0"/>
                </a:lnTo>
                <a:lnTo>
                  <a:pt x="3783488" y="2268533"/>
                </a:lnTo>
                <a:lnTo>
                  <a:pt x="0" y="226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8687" b="-480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MEET THE TEAM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798806" y="4514355"/>
            <a:ext cx="3773952" cy="1866392"/>
            <a:chOff x="0" y="0"/>
            <a:chExt cx="5031935" cy="2488523"/>
          </a:xfrm>
        </p:grpSpPr>
        <p:sp>
          <p:nvSpPr>
            <p:cNvPr id="30" name="TextBox 30"/>
            <p:cNvSpPr txBox="1"/>
            <p:nvPr/>
          </p:nvSpPr>
          <p:spPr>
            <a:xfrm>
              <a:off x="0" y="85725"/>
              <a:ext cx="5015545" cy="501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21834"/>
              <a:ext cx="5031935" cy="1292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Anastasija Mladenovska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092283"/>
              <a:ext cx="503193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526817" y="5199383"/>
            <a:ext cx="3773952" cy="854710"/>
            <a:chOff x="0" y="0"/>
            <a:chExt cx="5031935" cy="1139614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Tyler Shobert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743374"/>
              <a:ext cx="503193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86104" y="5111459"/>
            <a:ext cx="3773952" cy="854710"/>
            <a:chOff x="0" y="0"/>
            <a:chExt cx="5031935" cy="1139614"/>
          </a:xfrm>
        </p:grpSpPr>
        <p:sp>
          <p:nvSpPr>
            <p:cNvPr id="37" name="TextBox 37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Amelia Hopkins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743374"/>
              <a:ext cx="503193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64652" y="8915908"/>
            <a:ext cx="3773952" cy="1371092"/>
            <a:chOff x="0" y="0"/>
            <a:chExt cx="5031935" cy="1828123"/>
          </a:xfrm>
        </p:grpSpPr>
        <p:sp>
          <p:nvSpPr>
            <p:cNvPr id="40" name="TextBox 40"/>
            <p:cNvSpPr txBox="1"/>
            <p:nvPr/>
          </p:nvSpPr>
          <p:spPr>
            <a:xfrm>
              <a:off x="0" y="85725"/>
              <a:ext cx="5015545" cy="501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621834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Celia Espe 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1431883"/>
              <a:ext cx="503193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38352" y="8995047"/>
            <a:ext cx="3773952" cy="1371092"/>
            <a:chOff x="0" y="0"/>
            <a:chExt cx="5031935" cy="1828123"/>
          </a:xfrm>
        </p:grpSpPr>
        <p:sp>
          <p:nvSpPr>
            <p:cNvPr id="44" name="TextBox 44"/>
            <p:cNvSpPr txBox="1"/>
            <p:nvPr/>
          </p:nvSpPr>
          <p:spPr>
            <a:xfrm>
              <a:off x="0" y="85725"/>
              <a:ext cx="5015545" cy="501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621834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Elise Patti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1431883"/>
              <a:ext cx="503193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797846" y="2073055"/>
            <a:ext cx="2998533" cy="2688178"/>
            <a:chOff x="0" y="0"/>
            <a:chExt cx="1379207" cy="12364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79207" cy="1236456"/>
            </a:xfrm>
            <a:custGeom>
              <a:avLst/>
              <a:gdLst/>
              <a:ahLst/>
              <a:cxnLst/>
              <a:rect l="l" t="t" r="r" b="b"/>
              <a:pathLst>
                <a:path w="1379207" h="1236456">
                  <a:moveTo>
                    <a:pt x="0" y="0"/>
                  </a:moveTo>
                  <a:lnTo>
                    <a:pt x="1379207" y="0"/>
                  </a:lnTo>
                  <a:lnTo>
                    <a:pt x="1379207" y="1236456"/>
                  </a:lnTo>
                  <a:lnTo>
                    <a:pt x="0" y="1236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379207" cy="1265031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73536" y="377601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858299" y="1200005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50977" y="1392243"/>
            <a:ext cx="16123402" cy="455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Introduction: Framing the Strategic Crossroads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Client Situation Overview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Asset Strategy: Buy vs. Lease Decision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Entity Choice Analysis: Partnership vs. S Corporation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Integrated Tax Strategy Recommendation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Sensitivity &amp; Risk Considerations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Conclusion: Building the Bridge to Future Savings</a:t>
            </a:r>
          </a:p>
        </p:txBody>
      </p:sp>
      <p:grpSp>
        <p:nvGrpSpPr>
          <p:cNvPr id="5" name="Group 5"/>
          <p:cNvGrpSpPr/>
          <p:nvPr/>
        </p:nvGrpSpPr>
        <p:grpSpPr>
          <a:xfrm rot="16200000">
            <a:off x="-4487984" y="4455773"/>
            <a:ext cx="10313389" cy="1330172"/>
            <a:chOff x="0" y="0"/>
            <a:chExt cx="14217201" cy="2176603"/>
          </a:xfrm>
        </p:grpSpPr>
        <p:sp>
          <p:nvSpPr>
            <p:cNvPr id="6" name="Freeform 6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48255" y="8514979"/>
            <a:ext cx="1926124" cy="1486642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3" y="0"/>
                </a:lnTo>
                <a:lnTo>
                  <a:pt x="1926123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49165" y="1634304"/>
            <a:ext cx="16242893" cy="480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5"/>
              </a:lnSpc>
            </a:pPr>
            <a:endParaRPr/>
          </a:p>
          <a:p>
            <a:pPr algn="l">
              <a:lnSpc>
                <a:spcPts val="4225"/>
              </a:lnSpc>
            </a:pPr>
            <a:r>
              <a:rPr lang="en-US" sz="3250" spc="1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Today’s decisions shape tomorrow’s value.</a:t>
            </a:r>
          </a:p>
          <a:p>
            <a:pPr algn="l">
              <a:lnSpc>
                <a:spcPts val="4225"/>
              </a:lnSpc>
            </a:pPr>
            <a:endParaRPr lang="en-US" sz="3250" spc="16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25"/>
              </a:lnSpc>
            </a:pPr>
            <a:r>
              <a:rPr lang="en-US" sz="3250" spc="1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Entity structure and asset strategy define how income flows, how much is taxed, and what remains to grow the business.</a:t>
            </a:r>
          </a:p>
          <a:p>
            <a:pPr algn="l">
              <a:lnSpc>
                <a:spcPts val="4225"/>
              </a:lnSpc>
            </a:pPr>
            <a:endParaRPr lang="en-US" sz="3250" spc="16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225"/>
              </a:lnSpc>
            </a:pPr>
            <a:r>
              <a:rPr lang="en-US" sz="3250" spc="1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Two key levers:</a:t>
            </a:r>
          </a:p>
          <a:p>
            <a:pPr algn="l">
              <a:lnSpc>
                <a:spcPts val="4225"/>
              </a:lnSpc>
            </a:pPr>
            <a:r>
              <a:rPr lang="en-US" sz="3250" spc="1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• Entity Choice — Partnership vs. S Corporation</a:t>
            </a:r>
          </a:p>
          <a:p>
            <a:pPr algn="l">
              <a:lnSpc>
                <a:spcPts val="4225"/>
              </a:lnSpc>
            </a:pPr>
            <a:r>
              <a:rPr lang="en-US" sz="3250" spc="1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• Asset Strategy — Buy vs. Lease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 rot="16200000">
            <a:off x="-4497431" y="4455773"/>
            <a:ext cx="10275605" cy="1349065"/>
            <a:chOff x="0" y="0"/>
            <a:chExt cx="14217201" cy="2176603"/>
          </a:xfrm>
        </p:grpSpPr>
        <p:sp>
          <p:nvSpPr>
            <p:cNvPr id="6" name="Freeform 6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2427481" y="6400039"/>
            <a:ext cx="2324841" cy="3873705"/>
          </a:xfrm>
          <a:custGeom>
            <a:avLst/>
            <a:gdLst/>
            <a:ahLst/>
            <a:cxnLst/>
            <a:rect l="l" t="t" r="r" b="b"/>
            <a:pathLst>
              <a:path w="1764262" h="3101999">
                <a:moveTo>
                  <a:pt x="0" y="0"/>
                </a:moveTo>
                <a:lnTo>
                  <a:pt x="1764262" y="0"/>
                </a:lnTo>
                <a:lnTo>
                  <a:pt x="1764262" y="3101999"/>
                </a:lnTo>
                <a:lnTo>
                  <a:pt x="0" y="3101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013016" y="6441248"/>
            <a:ext cx="3395428" cy="3646098"/>
          </a:xfrm>
          <a:custGeom>
            <a:avLst/>
            <a:gdLst/>
            <a:ahLst/>
            <a:cxnLst/>
            <a:rect l="l" t="t" r="r" b="b"/>
            <a:pathLst>
              <a:path w="3395428" h="3646098">
                <a:moveTo>
                  <a:pt x="0" y="0"/>
                </a:moveTo>
                <a:lnTo>
                  <a:pt x="3395428" y="0"/>
                </a:lnTo>
                <a:lnTo>
                  <a:pt x="3395428" y="3646098"/>
                </a:lnTo>
                <a:lnTo>
                  <a:pt x="0" y="3646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492673" y="707206"/>
            <a:ext cx="16107894" cy="56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INTRODUCTION: FRAMING THE STRATEGIC CROSSROADS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67373" y="7429630"/>
            <a:ext cx="3441072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Impacts cash flow, effective tax rate, and strategic flexibility</a:t>
            </a:r>
          </a:p>
        </p:txBody>
      </p:sp>
      <p:sp>
        <p:nvSpPr>
          <p:cNvPr id="15" name="Freeform 15"/>
          <p:cNvSpPr/>
          <p:nvPr/>
        </p:nvSpPr>
        <p:spPr>
          <a:xfrm>
            <a:off x="8894342" y="6441248"/>
            <a:ext cx="3395428" cy="3646098"/>
          </a:xfrm>
          <a:custGeom>
            <a:avLst/>
            <a:gdLst/>
            <a:ahLst/>
            <a:cxnLst/>
            <a:rect l="l" t="t" r="r" b="b"/>
            <a:pathLst>
              <a:path w="3395428" h="3646098">
                <a:moveTo>
                  <a:pt x="0" y="0"/>
                </a:moveTo>
                <a:lnTo>
                  <a:pt x="3395429" y="0"/>
                </a:lnTo>
                <a:lnTo>
                  <a:pt x="3395429" y="3646098"/>
                </a:lnTo>
                <a:lnTo>
                  <a:pt x="0" y="3646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144000" y="7429630"/>
            <a:ext cx="3002493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Determines the business’s ability to reinvest and scale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832696" y="6441248"/>
            <a:ext cx="3395428" cy="3646098"/>
          </a:xfrm>
          <a:custGeom>
            <a:avLst/>
            <a:gdLst/>
            <a:ahLst/>
            <a:cxnLst/>
            <a:rect l="l" t="t" r="r" b="b"/>
            <a:pathLst>
              <a:path w="3395428" h="3646098">
                <a:moveTo>
                  <a:pt x="0" y="0"/>
                </a:moveTo>
                <a:lnTo>
                  <a:pt x="3395428" y="0"/>
                </a:lnTo>
                <a:lnTo>
                  <a:pt x="3395428" y="3646098"/>
                </a:lnTo>
                <a:lnTo>
                  <a:pt x="0" y="3646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3023196" y="7281545"/>
            <a:ext cx="2990367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Positions the client for future savings, not just short-term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89786" y="350978"/>
            <a:ext cx="8077043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1. Client Situation Overview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38220" y="1033462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62EAC3-5B66-64B6-7780-CC63B4836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793987"/>
              </p:ext>
            </p:extLst>
          </p:nvPr>
        </p:nvGraphicFramePr>
        <p:xfrm>
          <a:off x="1809947" y="1325005"/>
          <a:ext cx="15446380" cy="74338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723190">
                  <a:extLst>
                    <a:ext uri="{9D8B030D-6E8A-4147-A177-3AD203B41FA5}">
                      <a16:colId xmlns:a16="http://schemas.microsoft.com/office/drawing/2014/main" val="3551878587"/>
                    </a:ext>
                  </a:extLst>
                </a:gridCol>
                <a:gridCol w="7723190">
                  <a:extLst>
                    <a:ext uri="{9D8B030D-6E8A-4147-A177-3AD203B41FA5}">
                      <a16:colId xmlns:a16="http://schemas.microsoft.com/office/drawing/2014/main" val="2233123293"/>
                    </a:ext>
                  </a:extLst>
                </a:gridCol>
              </a:tblGrid>
              <a:tr h="66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Key Facts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749580"/>
                  </a:ext>
                </a:extLst>
              </a:tr>
              <a:tr h="66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Owners &amp; Funding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Jordan Smith (70%) — financed via loan; Blake Williams (30%) — contributed $120K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823103"/>
                  </a:ext>
                </a:extLst>
              </a:tr>
              <a:tr h="66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Business Profile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Downtown location; no direct competitors; LLC taxed as partnership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45333"/>
                  </a:ext>
                </a:extLst>
              </a:tr>
              <a:tr h="2719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Client Goals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Minimize 5-year tax liability (2026–2030)</a:t>
                      </a:r>
                    </a:p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Maximize after-tax cash flow</a:t>
                      </a:r>
                    </a:p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Preserve control</a:t>
                      </a:r>
                    </a:p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Build equity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549472"/>
                  </a:ext>
                </a:extLst>
              </a:tr>
              <a:tr h="13668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Decision Points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Buy real estate vs. lease</a:t>
                      </a:r>
                    </a:p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▸ Evaluate potential S-Corp election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441464"/>
                  </a:ext>
                </a:extLst>
              </a:tr>
              <a:tr h="66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Tax Priorities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 vs. FICA implications; QBI deduction (IRC §199A); depreciation benefits; NPV impact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258994"/>
                  </a:ext>
                </a:extLst>
              </a:tr>
              <a:tr h="66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Future Outlook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Position for controlled growth and long-term value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14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4880492" y="2692624"/>
            <a:ext cx="216299" cy="203054"/>
          </a:xfrm>
          <a:custGeom>
            <a:avLst/>
            <a:gdLst/>
            <a:ahLst/>
            <a:cxnLst/>
            <a:rect l="l" t="t" r="r" b="b"/>
            <a:pathLst>
              <a:path w="56968" h="53479">
                <a:moveTo>
                  <a:pt x="26740" y="0"/>
                </a:moveTo>
                <a:lnTo>
                  <a:pt x="30228" y="0"/>
                </a:lnTo>
                <a:cubicBezTo>
                  <a:pt x="37320" y="0"/>
                  <a:pt x="44121" y="2817"/>
                  <a:pt x="49136" y="7832"/>
                </a:cubicBezTo>
                <a:cubicBezTo>
                  <a:pt x="54150" y="12846"/>
                  <a:pt x="56968" y="19648"/>
                  <a:pt x="56968" y="26740"/>
                </a:cubicBezTo>
                <a:lnTo>
                  <a:pt x="56968" y="26740"/>
                </a:lnTo>
                <a:cubicBezTo>
                  <a:pt x="56968" y="41507"/>
                  <a:pt x="44996" y="53479"/>
                  <a:pt x="30228" y="53479"/>
                </a:cubicBezTo>
                <a:lnTo>
                  <a:pt x="26740" y="53479"/>
                </a:lnTo>
                <a:cubicBezTo>
                  <a:pt x="19648" y="53479"/>
                  <a:pt x="12846" y="50662"/>
                  <a:pt x="7832" y="45647"/>
                </a:cubicBezTo>
                <a:cubicBezTo>
                  <a:pt x="2817" y="40633"/>
                  <a:pt x="0" y="33831"/>
                  <a:pt x="0" y="26740"/>
                </a:cubicBezTo>
                <a:lnTo>
                  <a:pt x="0" y="26740"/>
                </a:lnTo>
                <a:cubicBezTo>
                  <a:pt x="0" y="19648"/>
                  <a:pt x="2817" y="12846"/>
                  <a:pt x="7832" y="7832"/>
                </a:cubicBezTo>
                <a:cubicBezTo>
                  <a:pt x="12846" y="2817"/>
                  <a:pt x="19648" y="0"/>
                  <a:pt x="26740" y="0"/>
                </a:cubicBezTo>
                <a:close/>
              </a:path>
            </a:pathLst>
          </a:custGeom>
          <a:solidFill>
            <a:srgbClr val="5CC339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367671" y="438293"/>
            <a:ext cx="10627816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2. Assumptions/Considerations in Buying vs. Leasing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1028695" y="1033462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74D8EE-73AF-BFE3-638A-FBA9C901B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682831"/>
              </p:ext>
            </p:extLst>
          </p:nvPr>
        </p:nvGraphicFramePr>
        <p:xfrm>
          <a:off x="1419649" y="1412369"/>
          <a:ext cx="15843246" cy="7146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81082">
                  <a:extLst>
                    <a:ext uri="{9D8B030D-6E8A-4147-A177-3AD203B41FA5}">
                      <a16:colId xmlns:a16="http://schemas.microsoft.com/office/drawing/2014/main" val="586212531"/>
                    </a:ext>
                  </a:extLst>
                </a:gridCol>
                <a:gridCol w="5281082">
                  <a:extLst>
                    <a:ext uri="{9D8B030D-6E8A-4147-A177-3AD203B41FA5}">
                      <a16:colId xmlns:a16="http://schemas.microsoft.com/office/drawing/2014/main" val="1726895675"/>
                    </a:ext>
                  </a:extLst>
                </a:gridCol>
                <a:gridCol w="5281082">
                  <a:extLst>
                    <a:ext uri="{9D8B030D-6E8A-4147-A177-3AD203B41FA5}">
                      <a16:colId xmlns:a16="http://schemas.microsoft.com/office/drawing/2014/main" val="117548185"/>
                    </a:ext>
                  </a:extLst>
                </a:gridCol>
              </a:tblGrid>
              <a:tr h="55599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Item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Amount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Notes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920512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Purchase price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$100,000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Placed in service 1/1/2026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929565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Land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Non-depreciable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457654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Building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$80,000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39-year SL depreciation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224169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FFE Basis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$80,000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Per case, bonus eligible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717474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Bonus Depreciation (2026)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60% = $48,000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Case says do not elect out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759622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MACRS on remaining FFE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$32,000 basis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7-year MACRS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99890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Interest rate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6%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Interest-only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450258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Annual interest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Deductible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177587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Property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Deductible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71397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Lease payment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$25,200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Fully deductible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529019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Startup costs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$7,000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§195: $5k immediate + amortize $2k over 15 years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817065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Tax rate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23%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Effective rate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930271"/>
                  </a:ext>
                </a:extLst>
              </a:tr>
              <a:tr h="5069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Discount rate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5%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NPV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6858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208637" y="1089287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3. FFE Depreciation</a:t>
            </a:r>
            <a:endParaRPr lang="en-US" sz="2799" b="1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419580" y="6419871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5. Building Depreciation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885206" y="1560888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885195" y="6911137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9B26E49-7F05-940C-81EE-CF0D25674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80227"/>
              </p:ext>
            </p:extLst>
          </p:nvPr>
        </p:nvGraphicFramePr>
        <p:xfrm>
          <a:off x="269370" y="1825596"/>
          <a:ext cx="17621250" cy="18875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6875">
                  <a:extLst>
                    <a:ext uri="{9D8B030D-6E8A-4147-A177-3AD203B41FA5}">
                      <a16:colId xmlns:a16="http://schemas.microsoft.com/office/drawing/2014/main" val="2637305444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2449287376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2297811450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4138398129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3055377784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3663121856"/>
                    </a:ext>
                  </a:extLst>
                </a:gridCol>
              </a:tblGrid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Bonus (60%)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Remaining Basis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MACRS 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MACRS Dep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Dep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509169"/>
                  </a:ext>
                </a:extLst>
              </a:tr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$48,000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$32,000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14.29%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$4,573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$52,573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6517"/>
                  </a:ext>
                </a:extLst>
              </a:tr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$27,427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24.49%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687555"/>
                  </a:ext>
                </a:extLst>
              </a:tr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$20,710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17.49%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$3,622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$3,622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16799"/>
                  </a:ext>
                </a:extLst>
              </a:tr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$17,088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12.49%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634790"/>
                  </a:ext>
                </a:extLst>
              </a:tr>
              <a:tr h="3145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$14,954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8.93%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$1,335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$1,335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47185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EF4D384-C935-C3EA-4A1A-28BD24AC1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510434"/>
              </p:ext>
            </p:extLst>
          </p:nvPr>
        </p:nvGraphicFramePr>
        <p:xfrm>
          <a:off x="269369" y="4339032"/>
          <a:ext cx="17605368" cy="20430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01342">
                  <a:extLst>
                    <a:ext uri="{9D8B030D-6E8A-4147-A177-3AD203B41FA5}">
                      <a16:colId xmlns:a16="http://schemas.microsoft.com/office/drawing/2014/main" val="1897851394"/>
                    </a:ext>
                  </a:extLst>
                </a:gridCol>
                <a:gridCol w="4401342">
                  <a:extLst>
                    <a:ext uri="{9D8B030D-6E8A-4147-A177-3AD203B41FA5}">
                      <a16:colId xmlns:a16="http://schemas.microsoft.com/office/drawing/2014/main" val="4268102060"/>
                    </a:ext>
                  </a:extLst>
                </a:gridCol>
                <a:gridCol w="4401342">
                  <a:extLst>
                    <a:ext uri="{9D8B030D-6E8A-4147-A177-3AD203B41FA5}">
                      <a16:colId xmlns:a16="http://schemas.microsoft.com/office/drawing/2014/main" val="3097334170"/>
                    </a:ext>
                  </a:extLst>
                </a:gridCol>
                <a:gridCol w="4401342">
                  <a:extLst>
                    <a:ext uri="{9D8B030D-6E8A-4147-A177-3AD203B41FA5}">
                      <a16:colId xmlns:a16="http://schemas.microsoft.com/office/drawing/2014/main" val="529685501"/>
                    </a:ext>
                  </a:extLst>
                </a:gridCol>
              </a:tblGrid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Immediate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Amortization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206"/>
                  </a:ext>
                </a:extLst>
              </a:tr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572709"/>
                  </a:ext>
                </a:extLst>
              </a:tr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0485"/>
                  </a:ext>
                </a:extLst>
              </a:tr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361988"/>
                  </a:ext>
                </a:extLst>
              </a:tr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854515"/>
                  </a:ext>
                </a:extLst>
              </a:tr>
              <a:tr h="3405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213067"/>
                  </a:ext>
                </a:extLst>
              </a:tr>
            </a:tbl>
          </a:graphicData>
        </a:graphic>
      </p:graphicFrame>
      <p:sp>
        <p:nvSpPr>
          <p:cNvPr id="22" name="TextBox 7">
            <a:extLst>
              <a:ext uri="{FF2B5EF4-FFF2-40B4-BE49-F238E27FC236}">
                <a16:creationId xmlns:a16="http://schemas.microsoft.com/office/drawing/2014/main" id="{6FF66806-7512-3E70-02DC-997C04E556BA}"/>
              </a:ext>
            </a:extLst>
          </p:cNvPr>
          <p:cNvSpPr txBox="1"/>
          <p:nvPr/>
        </p:nvSpPr>
        <p:spPr>
          <a:xfrm>
            <a:off x="3419764" y="3761140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4. Start Up Costs Amortization</a:t>
            </a:r>
            <a:endParaRPr lang="en-US" sz="2799" b="1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23" name="AutoShape 11">
            <a:extLst>
              <a:ext uri="{FF2B5EF4-FFF2-40B4-BE49-F238E27FC236}">
                <a16:creationId xmlns:a16="http://schemas.microsoft.com/office/drawing/2014/main" id="{40DA458D-6B65-534C-1B69-7924A7636A68}"/>
              </a:ext>
            </a:extLst>
          </p:cNvPr>
          <p:cNvSpPr/>
          <p:nvPr/>
        </p:nvSpPr>
        <p:spPr>
          <a:xfrm flipV="1">
            <a:off x="1096333" y="4232741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ECBE1FB-DF7D-0F1E-C7EA-A3886E019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959646"/>
              </p:ext>
            </p:extLst>
          </p:nvPr>
        </p:nvGraphicFramePr>
        <p:xfrm>
          <a:off x="4768567" y="7200171"/>
          <a:ext cx="8461238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30619">
                  <a:extLst>
                    <a:ext uri="{9D8B030D-6E8A-4147-A177-3AD203B41FA5}">
                      <a16:colId xmlns:a16="http://schemas.microsoft.com/office/drawing/2014/main" val="601271864"/>
                    </a:ext>
                  </a:extLst>
                </a:gridCol>
                <a:gridCol w="4230619">
                  <a:extLst>
                    <a:ext uri="{9D8B030D-6E8A-4147-A177-3AD203B41FA5}">
                      <a16:colId xmlns:a16="http://schemas.microsoft.com/office/drawing/2014/main" val="2545759337"/>
                    </a:ext>
                  </a:extLst>
                </a:gridCol>
              </a:tblGrid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Depreciation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61181"/>
                  </a:ext>
                </a:extLst>
              </a:tr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$1,966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1706"/>
                  </a:ext>
                </a:extLst>
              </a:tr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106348"/>
                  </a:ext>
                </a:extLst>
              </a:tr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194828"/>
                  </a:ext>
                </a:extLst>
              </a:tr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63738"/>
                  </a:ext>
                </a:extLst>
              </a:tr>
              <a:tr h="2838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4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274159" y="106453"/>
            <a:ext cx="10627816" cy="9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6. Buy Scenario – Annual Tax Deductions &amp; Tax Shield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50" b="1">
              <a:solidFill>
                <a:srgbClr val="2B2C30"/>
              </a:solidFill>
              <a:latin typeface="Public Sans Bold"/>
              <a:ea typeface="+mn-lt"/>
              <a:cs typeface="+mn-l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25121" y="2728578"/>
            <a:ext cx="10627816" cy="46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7. 5-Year Tax Calculation Under Buy Scenario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35626" y="5869291"/>
            <a:ext cx="13052140" cy="456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8. Net Present Value of Federal Taxes – Buy Scenario (2026-2030)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310759" y="602071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1361732" y="3176162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361743" y="6364908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5A1528-59A6-3CC5-64D5-431C13A11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828496"/>
              </p:ext>
            </p:extLst>
          </p:nvPr>
        </p:nvGraphicFramePr>
        <p:xfrm>
          <a:off x="407694" y="844509"/>
          <a:ext cx="17557728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4716">
                  <a:extLst>
                    <a:ext uri="{9D8B030D-6E8A-4147-A177-3AD203B41FA5}">
                      <a16:colId xmlns:a16="http://schemas.microsoft.com/office/drawing/2014/main" val="1862722244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1473344318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2752922400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4161670419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2739592985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3086883202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3843164134"/>
                    </a:ext>
                  </a:extLst>
                </a:gridCol>
                <a:gridCol w="2194716">
                  <a:extLst>
                    <a:ext uri="{9D8B030D-6E8A-4147-A177-3AD203B41FA5}">
                      <a16:colId xmlns:a16="http://schemas.microsoft.com/office/drawing/2014/main" val="4150210839"/>
                    </a:ext>
                  </a:extLst>
                </a:gridCol>
              </a:tblGrid>
              <a:tr h="30680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Interest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Property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Building Dep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FFE Dep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Startup Ded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 Shield (23%)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14521"/>
                  </a:ext>
                </a:extLst>
              </a:tr>
              <a:tr h="30680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$1,966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$52,573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$68,672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$15,795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18982"/>
                  </a:ext>
                </a:extLst>
              </a:tr>
              <a:tr h="30680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$17,902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$4,117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835841"/>
                  </a:ext>
                </a:extLst>
              </a:tr>
              <a:tr h="30680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$3,622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$14,807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$3,406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032430"/>
                  </a:ext>
                </a:extLst>
              </a:tr>
              <a:tr h="30680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$13,319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$3,063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123677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$1,335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$133.33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$12,520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$2,880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91267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E2FDC9B-BFC5-F792-A7FA-B73F8B995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642241"/>
              </p:ext>
            </p:extLst>
          </p:nvPr>
        </p:nvGraphicFramePr>
        <p:xfrm>
          <a:off x="298490" y="3472681"/>
          <a:ext cx="17732360" cy="22709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6472">
                  <a:extLst>
                    <a:ext uri="{9D8B030D-6E8A-4147-A177-3AD203B41FA5}">
                      <a16:colId xmlns:a16="http://schemas.microsoft.com/office/drawing/2014/main" val="2243320672"/>
                    </a:ext>
                  </a:extLst>
                </a:gridCol>
                <a:gridCol w="3546472">
                  <a:extLst>
                    <a:ext uri="{9D8B030D-6E8A-4147-A177-3AD203B41FA5}">
                      <a16:colId xmlns:a16="http://schemas.microsoft.com/office/drawing/2014/main" val="2016515533"/>
                    </a:ext>
                  </a:extLst>
                </a:gridCol>
                <a:gridCol w="3546472">
                  <a:extLst>
                    <a:ext uri="{9D8B030D-6E8A-4147-A177-3AD203B41FA5}">
                      <a16:colId xmlns:a16="http://schemas.microsoft.com/office/drawing/2014/main" val="2145647715"/>
                    </a:ext>
                  </a:extLst>
                </a:gridCol>
                <a:gridCol w="3546472">
                  <a:extLst>
                    <a:ext uri="{9D8B030D-6E8A-4147-A177-3AD203B41FA5}">
                      <a16:colId xmlns:a16="http://schemas.microsoft.com/office/drawing/2014/main" val="3473702379"/>
                    </a:ext>
                  </a:extLst>
                </a:gridCol>
                <a:gridCol w="3546472">
                  <a:extLst>
                    <a:ext uri="{9D8B030D-6E8A-4147-A177-3AD203B41FA5}">
                      <a16:colId xmlns:a16="http://schemas.microsoft.com/office/drawing/2014/main" val="1070159206"/>
                    </a:ext>
                  </a:extLst>
                </a:gridCol>
              </a:tblGrid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EBIT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Taxable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 @ 23%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606636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$192,000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$68,672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$123,328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$28,365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501316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$205,440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$17,902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$187,538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$43,134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296586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$219,821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$14,807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$205,014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$47,153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386328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$235,208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$13,319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$221,889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$51,034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226619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$251,673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$12,520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$239,153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$55,005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35663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61BDFCC-DDD2-3E92-8D23-ECD4E3AD5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75910"/>
              </p:ext>
            </p:extLst>
          </p:nvPr>
        </p:nvGraphicFramePr>
        <p:xfrm>
          <a:off x="815388" y="6559509"/>
          <a:ext cx="16446464" cy="2186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11616">
                  <a:extLst>
                    <a:ext uri="{9D8B030D-6E8A-4147-A177-3AD203B41FA5}">
                      <a16:colId xmlns:a16="http://schemas.microsoft.com/office/drawing/2014/main" val="1516631681"/>
                    </a:ext>
                  </a:extLst>
                </a:gridCol>
                <a:gridCol w="4111616">
                  <a:extLst>
                    <a:ext uri="{9D8B030D-6E8A-4147-A177-3AD203B41FA5}">
                      <a16:colId xmlns:a16="http://schemas.microsoft.com/office/drawing/2014/main" val="3341582017"/>
                    </a:ext>
                  </a:extLst>
                </a:gridCol>
                <a:gridCol w="4111616">
                  <a:extLst>
                    <a:ext uri="{9D8B030D-6E8A-4147-A177-3AD203B41FA5}">
                      <a16:colId xmlns:a16="http://schemas.microsoft.com/office/drawing/2014/main" val="2096522286"/>
                    </a:ext>
                  </a:extLst>
                </a:gridCol>
                <a:gridCol w="4111616">
                  <a:extLst>
                    <a:ext uri="{9D8B030D-6E8A-4147-A177-3AD203B41FA5}">
                      <a16:colId xmlns:a16="http://schemas.microsoft.com/office/drawing/2014/main" val="139334682"/>
                    </a:ext>
                  </a:extLst>
                </a:gridCol>
              </a:tblGrid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PV Factor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PV of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314163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$28,365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0.9524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$27,015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90458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$43,134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0.907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$39,122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93005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$47,153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0.8638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$40,731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193953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$51,034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$41,986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423516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$55,005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0.7835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$43,097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72149"/>
                  </a:ext>
                </a:extLst>
              </a:tr>
              <a:tr h="2994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NPV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$191,951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410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94766" y="342240"/>
            <a:ext cx="12091147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b="1">
                <a:solidFill>
                  <a:srgbClr val="2B2C30"/>
                </a:solidFill>
                <a:latin typeface="Public Sans Bold"/>
              </a:rPr>
              <a:t>Figure 9. Lease Scenario – Annual Tax Deductions &amp; Tax Shield</a:t>
            </a:r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108794" y="843155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7238A07-5B6C-7258-E0B9-63C8FED78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466618"/>
              </p:ext>
            </p:extLst>
          </p:nvPr>
        </p:nvGraphicFramePr>
        <p:xfrm>
          <a:off x="1008062" y="1063625"/>
          <a:ext cx="16065471" cy="17462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30186">
                  <a:extLst>
                    <a:ext uri="{9D8B030D-6E8A-4147-A177-3AD203B41FA5}">
                      <a16:colId xmlns:a16="http://schemas.microsoft.com/office/drawing/2014/main" val="975669095"/>
                    </a:ext>
                  </a:extLst>
                </a:gridCol>
                <a:gridCol w="2730186">
                  <a:extLst>
                    <a:ext uri="{9D8B030D-6E8A-4147-A177-3AD203B41FA5}">
                      <a16:colId xmlns:a16="http://schemas.microsoft.com/office/drawing/2014/main" val="2089496690"/>
                    </a:ext>
                  </a:extLst>
                </a:gridCol>
                <a:gridCol w="2414544">
                  <a:extLst>
                    <a:ext uri="{9D8B030D-6E8A-4147-A177-3AD203B41FA5}">
                      <a16:colId xmlns:a16="http://schemas.microsoft.com/office/drawing/2014/main" val="1175261611"/>
                    </a:ext>
                  </a:extLst>
                </a:gridCol>
                <a:gridCol w="2414544">
                  <a:extLst>
                    <a:ext uri="{9D8B030D-6E8A-4147-A177-3AD203B41FA5}">
                      <a16:colId xmlns:a16="http://schemas.microsoft.com/office/drawing/2014/main" val="4233072090"/>
                    </a:ext>
                  </a:extLst>
                </a:gridCol>
                <a:gridCol w="3045825">
                  <a:extLst>
                    <a:ext uri="{9D8B030D-6E8A-4147-A177-3AD203B41FA5}">
                      <a16:colId xmlns:a16="http://schemas.microsoft.com/office/drawing/2014/main" val="973516980"/>
                    </a:ext>
                  </a:extLst>
                </a:gridCol>
                <a:gridCol w="2730186">
                  <a:extLst>
                    <a:ext uri="{9D8B030D-6E8A-4147-A177-3AD203B41FA5}">
                      <a16:colId xmlns:a16="http://schemas.microsoft.com/office/drawing/2014/main" val="3551749365"/>
                    </a:ext>
                  </a:extLst>
                </a:gridCol>
              </a:tblGrid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Year</a:t>
                      </a:r>
                      <a:endParaRPr lang="en-US"/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Lease Exp</a:t>
                      </a:r>
                      <a:endParaRPr lang="en-US"/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Startup Ded</a:t>
                      </a:r>
                      <a:endParaRPr lang="en-US"/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FFE Dep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Total Deduction</a:t>
                      </a:r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Tax Shield (23%)</a:t>
                      </a:r>
                      <a:endParaRPr 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989201"/>
                  </a:ext>
                </a:extLst>
              </a:tr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2026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$25,200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$5,133.33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$52,573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$30,333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$6,977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072071"/>
                  </a:ext>
                </a:extLst>
              </a:tr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2027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$25,200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$133.33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$6,717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$25,333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$5,827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86602"/>
                  </a:ext>
                </a:extLst>
              </a:tr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2028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$25,200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$133.33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$3,622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$25,333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$5,827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670977"/>
                  </a:ext>
                </a:extLst>
              </a:tr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2029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$25,200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$133.33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$2,134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$25,333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$5,827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38483"/>
                  </a:ext>
                </a:extLst>
              </a:tr>
              <a:tr h="291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2030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$25,200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$133.33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$1,335</a:t>
                      </a: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$25,333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$5,827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465256"/>
                  </a:ext>
                </a:extLst>
              </a:tr>
            </a:tbl>
          </a:graphicData>
        </a:graphic>
      </p:graphicFrame>
      <p:sp>
        <p:nvSpPr>
          <p:cNvPr id="16" name="TextBox 3">
            <a:extLst>
              <a:ext uri="{FF2B5EF4-FFF2-40B4-BE49-F238E27FC236}">
                <a16:creationId xmlns:a16="http://schemas.microsoft.com/office/drawing/2014/main" id="{C44660B7-E850-5671-23B4-EABC85B0F118}"/>
              </a:ext>
            </a:extLst>
          </p:cNvPr>
          <p:cNvSpPr txBox="1"/>
          <p:nvPr/>
        </p:nvSpPr>
        <p:spPr>
          <a:xfrm>
            <a:off x="3294766" y="2904890"/>
            <a:ext cx="12091147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b="1">
                <a:solidFill>
                  <a:srgbClr val="2B2C30"/>
                </a:solidFill>
                <a:latin typeface="Public Sans Bold"/>
              </a:rPr>
              <a:t>Figure 10. Figure 7. 5-Year Tax Calculation Under Lease Scenario</a:t>
            </a:r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2B7D8125-224F-A472-0A66-5138BD35D9F4}"/>
              </a:ext>
            </a:extLst>
          </p:cNvPr>
          <p:cNvSpPr/>
          <p:nvPr/>
        </p:nvSpPr>
        <p:spPr>
          <a:xfrm flipV="1">
            <a:off x="1429126" y="3296601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7227C5EF-92E0-3E84-4BA8-2D9C78152A9D}"/>
              </a:ext>
            </a:extLst>
          </p:cNvPr>
          <p:cNvSpPr txBox="1"/>
          <p:nvPr/>
        </p:nvSpPr>
        <p:spPr>
          <a:xfrm>
            <a:off x="2275531" y="5416578"/>
            <a:ext cx="13132224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b="1">
                <a:solidFill>
                  <a:srgbClr val="2B2C30"/>
                </a:solidFill>
                <a:latin typeface="Public Sans Bold"/>
              </a:rPr>
              <a:t>Figure 11. Net Present Value of Federal Taxes – Lease Scenario (2026-2030)</a:t>
            </a:r>
            <a:endParaRPr lang="en-US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7A5D31E5-C3E4-B7A8-16B1-AC962066BF49}"/>
              </a:ext>
            </a:extLst>
          </p:cNvPr>
          <p:cNvSpPr/>
          <p:nvPr/>
        </p:nvSpPr>
        <p:spPr>
          <a:xfrm flipV="1">
            <a:off x="1196157" y="597573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471106E-FC41-3B1C-7A52-41D6D821B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604365"/>
              </p:ext>
            </p:extLst>
          </p:nvPr>
        </p:nvGraphicFramePr>
        <p:xfrm>
          <a:off x="1016000" y="3508375"/>
          <a:ext cx="16176600" cy="19204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35320">
                  <a:extLst>
                    <a:ext uri="{9D8B030D-6E8A-4147-A177-3AD203B41FA5}">
                      <a16:colId xmlns:a16="http://schemas.microsoft.com/office/drawing/2014/main" val="1611491584"/>
                    </a:ext>
                  </a:extLst>
                </a:gridCol>
                <a:gridCol w="3235320">
                  <a:extLst>
                    <a:ext uri="{9D8B030D-6E8A-4147-A177-3AD203B41FA5}">
                      <a16:colId xmlns:a16="http://schemas.microsoft.com/office/drawing/2014/main" val="1055544999"/>
                    </a:ext>
                  </a:extLst>
                </a:gridCol>
                <a:gridCol w="3235320">
                  <a:extLst>
                    <a:ext uri="{9D8B030D-6E8A-4147-A177-3AD203B41FA5}">
                      <a16:colId xmlns:a16="http://schemas.microsoft.com/office/drawing/2014/main" val="1941120409"/>
                    </a:ext>
                  </a:extLst>
                </a:gridCol>
                <a:gridCol w="3235320">
                  <a:extLst>
                    <a:ext uri="{9D8B030D-6E8A-4147-A177-3AD203B41FA5}">
                      <a16:colId xmlns:a16="http://schemas.microsoft.com/office/drawing/2014/main" val="1205946640"/>
                    </a:ext>
                  </a:extLst>
                </a:gridCol>
                <a:gridCol w="3235320">
                  <a:extLst>
                    <a:ext uri="{9D8B030D-6E8A-4147-A177-3AD203B41FA5}">
                      <a16:colId xmlns:a16="http://schemas.microsoft.com/office/drawing/2014/main" val="1181807732"/>
                    </a:ext>
                  </a:extLst>
                </a:gridCol>
              </a:tblGrid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EBIT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Total Deductions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Taxable Income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 @ 23%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474428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$192,000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$82,906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$109,094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$25,092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167088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$205,440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$32,050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$173,390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$39,880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85250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$219,821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$28,956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$190,865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$43,899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745100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$235,208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$27,468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$207,740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$47,780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38809"/>
                  </a:ext>
                </a:extLst>
              </a:tr>
              <a:tr h="3200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$251,673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$26,669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$225,004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$51,751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36631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2D85B4D-F2D3-3CC7-8F6E-D3415C985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30977"/>
              </p:ext>
            </p:extLst>
          </p:nvPr>
        </p:nvGraphicFramePr>
        <p:xfrm>
          <a:off x="1008062" y="6246812"/>
          <a:ext cx="16287704" cy="2298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71926">
                  <a:extLst>
                    <a:ext uri="{9D8B030D-6E8A-4147-A177-3AD203B41FA5}">
                      <a16:colId xmlns:a16="http://schemas.microsoft.com/office/drawing/2014/main" val="254006496"/>
                    </a:ext>
                  </a:extLst>
                </a:gridCol>
                <a:gridCol w="4071926">
                  <a:extLst>
                    <a:ext uri="{9D8B030D-6E8A-4147-A177-3AD203B41FA5}">
                      <a16:colId xmlns:a16="http://schemas.microsoft.com/office/drawing/2014/main" val="2128107701"/>
                    </a:ext>
                  </a:extLst>
                </a:gridCol>
                <a:gridCol w="4071926">
                  <a:extLst>
                    <a:ext uri="{9D8B030D-6E8A-4147-A177-3AD203B41FA5}">
                      <a16:colId xmlns:a16="http://schemas.microsoft.com/office/drawing/2014/main" val="2485593619"/>
                    </a:ext>
                  </a:extLst>
                </a:gridCol>
                <a:gridCol w="4071926">
                  <a:extLst>
                    <a:ext uri="{9D8B030D-6E8A-4147-A177-3AD203B41FA5}">
                      <a16:colId xmlns:a16="http://schemas.microsoft.com/office/drawing/2014/main" val="235886516"/>
                    </a:ext>
                  </a:extLst>
                </a:gridCol>
              </a:tblGrid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 Factor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 of Tax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181616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25,092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0.9524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23,897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315975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39,880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0.907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36,171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07732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43,899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0.8638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37,920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128402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47,780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39,309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629650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51,751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0.7835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40,547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672151"/>
                  </a:ext>
                </a:extLst>
              </a:tr>
              <a:tr h="3284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NPV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177,844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6622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51838" y="83450"/>
            <a:ext cx="14937726" cy="456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Figures 12-15.</a:t>
            </a:r>
            <a:r>
              <a:rPr lang="en-US" sz="2750" b="1">
                <a:solidFill>
                  <a:srgbClr val="2B2C30"/>
                </a:solidFill>
                <a:latin typeface="Public Sans Bold"/>
                <a:ea typeface="+mn-lt"/>
                <a:cs typeface="+mn-lt"/>
                <a:sym typeface="Public Sans Bold"/>
              </a:rPr>
              <a:t> Buy vs. Lease: After Tax Cash Flow and NPV Analysis (2026-2030)</a:t>
            </a:r>
            <a:endParaRPr lang="en-US" sz="2750" b="1">
              <a:solidFill>
                <a:srgbClr val="2B2C30"/>
              </a:solidFill>
              <a:latin typeface="Public Sans Bold"/>
              <a:ea typeface="Public Sans Bold"/>
              <a:cs typeface="Public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695" y="576891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8F58C3-2DCE-53BE-5E7B-047F208C9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14084"/>
              </p:ext>
            </p:extLst>
          </p:nvPr>
        </p:nvGraphicFramePr>
        <p:xfrm>
          <a:off x="436815" y="720745"/>
          <a:ext cx="17557740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6290">
                  <a:extLst>
                    <a:ext uri="{9D8B030D-6E8A-4147-A177-3AD203B41FA5}">
                      <a16:colId xmlns:a16="http://schemas.microsoft.com/office/drawing/2014/main" val="3578770454"/>
                    </a:ext>
                  </a:extLst>
                </a:gridCol>
                <a:gridCol w="2926290">
                  <a:extLst>
                    <a:ext uri="{9D8B030D-6E8A-4147-A177-3AD203B41FA5}">
                      <a16:colId xmlns:a16="http://schemas.microsoft.com/office/drawing/2014/main" val="1064736142"/>
                    </a:ext>
                  </a:extLst>
                </a:gridCol>
                <a:gridCol w="2926290">
                  <a:extLst>
                    <a:ext uri="{9D8B030D-6E8A-4147-A177-3AD203B41FA5}">
                      <a16:colId xmlns:a16="http://schemas.microsoft.com/office/drawing/2014/main" val="4241423739"/>
                    </a:ext>
                  </a:extLst>
                </a:gridCol>
                <a:gridCol w="2926290">
                  <a:extLst>
                    <a:ext uri="{9D8B030D-6E8A-4147-A177-3AD203B41FA5}">
                      <a16:colId xmlns:a16="http://schemas.microsoft.com/office/drawing/2014/main" val="3876151178"/>
                    </a:ext>
                  </a:extLst>
                </a:gridCol>
                <a:gridCol w="2926290">
                  <a:extLst>
                    <a:ext uri="{9D8B030D-6E8A-4147-A177-3AD203B41FA5}">
                      <a16:colId xmlns:a16="http://schemas.microsoft.com/office/drawing/2014/main" val="2255866077"/>
                    </a:ext>
                  </a:extLst>
                </a:gridCol>
                <a:gridCol w="2926290">
                  <a:extLst>
                    <a:ext uri="{9D8B030D-6E8A-4147-A177-3AD203B41FA5}">
                      <a16:colId xmlns:a16="http://schemas.microsoft.com/office/drawing/2014/main" val="2943750228"/>
                    </a:ext>
                  </a:extLst>
                </a:gridCol>
              </a:tblGrid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Cash Outflow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 Shield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Net Operating CF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Balloon (FMV − Debt)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Final CF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26223"/>
                  </a:ext>
                </a:extLst>
              </a:tr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15,795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248779"/>
                  </a:ext>
                </a:extLst>
              </a:tr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4,117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-4,883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-4,883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49751"/>
                  </a:ext>
                </a:extLst>
              </a:tr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3,406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-5,594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-5,594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1758"/>
                  </a:ext>
                </a:extLst>
              </a:tr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3,063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-5,937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—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-5,937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695859"/>
                  </a:ext>
                </a:extLst>
              </a:tr>
              <a:tr h="2938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2,880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-6,120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-6,120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2495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5BB157F-3598-49D8-139A-4956F1545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86191"/>
              </p:ext>
            </p:extLst>
          </p:nvPr>
        </p:nvGraphicFramePr>
        <p:xfrm>
          <a:off x="422254" y="2824738"/>
          <a:ext cx="17589504" cy="20119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97376">
                  <a:extLst>
                    <a:ext uri="{9D8B030D-6E8A-4147-A177-3AD203B41FA5}">
                      <a16:colId xmlns:a16="http://schemas.microsoft.com/office/drawing/2014/main" val="1016008127"/>
                    </a:ext>
                  </a:extLst>
                </a:gridCol>
                <a:gridCol w="4397376">
                  <a:extLst>
                    <a:ext uri="{9D8B030D-6E8A-4147-A177-3AD203B41FA5}">
                      <a16:colId xmlns:a16="http://schemas.microsoft.com/office/drawing/2014/main" val="356764379"/>
                    </a:ext>
                  </a:extLst>
                </a:gridCol>
                <a:gridCol w="4397376">
                  <a:extLst>
                    <a:ext uri="{9D8B030D-6E8A-4147-A177-3AD203B41FA5}">
                      <a16:colId xmlns:a16="http://schemas.microsoft.com/office/drawing/2014/main" val="2821930823"/>
                    </a:ext>
                  </a:extLst>
                </a:gridCol>
                <a:gridCol w="4397376">
                  <a:extLst>
                    <a:ext uri="{9D8B030D-6E8A-4147-A177-3AD203B41FA5}">
                      <a16:colId xmlns:a16="http://schemas.microsoft.com/office/drawing/2014/main" val="187614860"/>
                    </a:ext>
                  </a:extLst>
                </a:gridCol>
              </a:tblGrid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CF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PV Factor @ 5%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PV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63698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0.9524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6,472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875213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-4,883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-4,429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923577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-5,594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0.8638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-4,832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538563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-5,937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-4,884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799366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-6,120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0.7835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-4,795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87579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5DF3E0-F7C8-A32C-689C-63B67BBEE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39963"/>
              </p:ext>
            </p:extLst>
          </p:nvPr>
        </p:nvGraphicFramePr>
        <p:xfrm>
          <a:off x="436563" y="5146040"/>
          <a:ext cx="17557748" cy="20002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89437">
                  <a:extLst>
                    <a:ext uri="{9D8B030D-6E8A-4147-A177-3AD203B41FA5}">
                      <a16:colId xmlns:a16="http://schemas.microsoft.com/office/drawing/2014/main" val="2908183374"/>
                    </a:ext>
                  </a:extLst>
                </a:gridCol>
                <a:gridCol w="4389437">
                  <a:extLst>
                    <a:ext uri="{9D8B030D-6E8A-4147-A177-3AD203B41FA5}">
                      <a16:colId xmlns:a16="http://schemas.microsoft.com/office/drawing/2014/main" val="664018518"/>
                    </a:ext>
                  </a:extLst>
                </a:gridCol>
                <a:gridCol w="4389437">
                  <a:extLst>
                    <a:ext uri="{9D8B030D-6E8A-4147-A177-3AD203B41FA5}">
                      <a16:colId xmlns:a16="http://schemas.microsoft.com/office/drawing/2014/main" val="3419635318"/>
                    </a:ext>
                  </a:extLst>
                </a:gridCol>
                <a:gridCol w="4389437">
                  <a:extLst>
                    <a:ext uri="{9D8B030D-6E8A-4147-A177-3AD203B41FA5}">
                      <a16:colId xmlns:a16="http://schemas.microsoft.com/office/drawing/2014/main" val="4213975378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Lease Payment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 Shield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Net Op CF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5410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19,068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-6,132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1033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7,372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-17,828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1582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6,660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-18,540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84747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6,318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-18,882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33572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25,200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6,134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-19,066</a:t>
                      </a:r>
                    </a:p>
                  </a:txBody>
                  <a:tcPr marL="28575" marR="28575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947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C6FBED-F92B-227D-D080-09BE632B7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426774"/>
              </p:ext>
            </p:extLst>
          </p:nvPr>
        </p:nvGraphicFramePr>
        <p:xfrm>
          <a:off x="468313" y="7463790"/>
          <a:ext cx="16128956" cy="19022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2239">
                  <a:extLst>
                    <a:ext uri="{9D8B030D-6E8A-4147-A177-3AD203B41FA5}">
                      <a16:colId xmlns:a16="http://schemas.microsoft.com/office/drawing/2014/main" val="2080570705"/>
                    </a:ext>
                  </a:extLst>
                </a:gridCol>
                <a:gridCol w="4032239">
                  <a:extLst>
                    <a:ext uri="{9D8B030D-6E8A-4147-A177-3AD203B41FA5}">
                      <a16:colId xmlns:a16="http://schemas.microsoft.com/office/drawing/2014/main" val="444226145"/>
                    </a:ext>
                  </a:extLst>
                </a:gridCol>
                <a:gridCol w="4032239">
                  <a:extLst>
                    <a:ext uri="{9D8B030D-6E8A-4147-A177-3AD203B41FA5}">
                      <a16:colId xmlns:a16="http://schemas.microsoft.com/office/drawing/2014/main" val="3921740360"/>
                    </a:ext>
                  </a:extLst>
                </a:gridCol>
                <a:gridCol w="4032239">
                  <a:extLst>
                    <a:ext uri="{9D8B030D-6E8A-4147-A177-3AD203B41FA5}">
                      <a16:colId xmlns:a16="http://schemas.microsoft.com/office/drawing/2014/main" val="385211100"/>
                    </a:ext>
                  </a:extLst>
                </a:gridCol>
              </a:tblGrid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CF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 Factor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14051"/>
                  </a:ext>
                </a:extLst>
              </a:tr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-6,132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0.9524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-5,840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276893"/>
                  </a:ext>
                </a:extLst>
              </a:tr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-17,828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0.907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-16,170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01636"/>
                  </a:ext>
                </a:extLst>
              </a:tr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-18,540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0.8638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-16,015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89516"/>
                  </a:ext>
                </a:extLst>
              </a:tr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-18,882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-15,535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704844"/>
                  </a:ext>
                </a:extLst>
              </a:tr>
              <a:tr h="3170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-19,066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0.7835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-14,938</a:t>
                      </a:r>
                    </a:p>
                  </a:txBody>
                  <a:tcPr marL="28575" marR="2857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942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44218" y="749935"/>
            <a:ext cx="10627816" cy="46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16. </a:t>
            </a:r>
            <a:r>
              <a:rPr lang="en-US" sz="2750" b="1">
                <a:solidFill>
                  <a:srgbClr val="2B2C30"/>
                </a:solidFill>
                <a:latin typeface="Public Sans Bold"/>
                <a:ea typeface="+mn-lt"/>
                <a:cs typeface="+mn-lt"/>
                <a:sym typeface="Public Sans Bold"/>
              </a:rPr>
              <a:t>NPV Comparison – Sale Vs. Hold Outcomes</a:t>
            </a:r>
            <a:endParaRPr lang="en-US" sz="2750" b="1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711" y="138189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848255" y="8514979"/>
            <a:ext cx="1926124" cy="1486642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3" y="0"/>
                </a:lnTo>
                <a:lnTo>
                  <a:pt x="1926123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03E4BE8-361A-5555-E43B-614E67AA9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001572"/>
              </p:ext>
            </p:extLst>
          </p:nvPr>
        </p:nvGraphicFramePr>
        <p:xfrm>
          <a:off x="1579815" y="2137628"/>
          <a:ext cx="15541615" cy="463321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8323">
                  <a:extLst>
                    <a:ext uri="{9D8B030D-6E8A-4147-A177-3AD203B41FA5}">
                      <a16:colId xmlns:a16="http://schemas.microsoft.com/office/drawing/2014/main" val="3300263440"/>
                    </a:ext>
                  </a:extLst>
                </a:gridCol>
                <a:gridCol w="3108323">
                  <a:extLst>
                    <a:ext uri="{9D8B030D-6E8A-4147-A177-3AD203B41FA5}">
                      <a16:colId xmlns:a16="http://schemas.microsoft.com/office/drawing/2014/main" val="2746140438"/>
                    </a:ext>
                  </a:extLst>
                </a:gridCol>
                <a:gridCol w="3108323">
                  <a:extLst>
                    <a:ext uri="{9D8B030D-6E8A-4147-A177-3AD203B41FA5}">
                      <a16:colId xmlns:a16="http://schemas.microsoft.com/office/drawing/2014/main" val="1239459121"/>
                    </a:ext>
                  </a:extLst>
                </a:gridCol>
                <a:gridCol w="3108323">
                  <a:extLst>
                    <a:ext uri="{9D8B030D-6E8A-4147-A177-3AD203B41FA5}">
                      <a16:colId xmlns:a16="http://schemas.microsoft.com/office/drawing/2014/main" val="2451494233"/>
                    </a:ext>
                  </a:extLst>
                </a:gridCol>
                <a:gridCol w="3108323">
                  <a:extLst>
                    <a:ext uri="{9D8B030D-6E8A-4147-A177-3AD203B41FA5}">
                      <a16:colId xmlns:a16="http://schemas.microsoft.com/office/drawing/2014/main" val="720256173"/>
                    </a:ext>
                  </a:extLst>
                </a:gridCol>
              </a:tblGrid>
              <a:tr h="8139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Scenario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Buy NPV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Lease NPV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Preferred Option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92543"/>
                  </a:ext>
                </a:extLst>
              </a:tr>
              <a:tr h="17844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Scenario 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Sell property at balloon payoff (no appreciation modeled)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-$12,469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-$68,498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Buy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525577"/>
                  </a:ext>
                </a:extLst>
              </a:tr>
              <a:tr h="2034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Scenario 2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Keep property after balloon payoff (implied residual value not realized immediately)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-$90,819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-$68,498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Lease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*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3403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0247473-78B6-57B4-5825-CE3E2134A470}"/>
              </a:ext>
            </a:extLst>
          </p:cNvPr>
          <p:cNvSpPr txBox="1"/>
          <p:nvPr/>
        </p:nvSpPr>
        <p:spPr>
          <a:xfrm>
            <a:off x="4775848" y="8230328"/>
            <a:ext cx="949345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*Scenario 2 appears worse for Buy </a:t>
            </a:r>
            <a:r>
              <a:rPr lang="en-US" sz="2400" b="1"/>
              <a:t>only because equity value at end of hold is not monetized</a:t>
            </a:r>
            <a:r>
              <a:rPr lang="en-US" sz="2400"/>
              <a:t> — Buy remains economically superior once residual value or growth is accounted for.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11" y="780977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644218" y="285359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17. Strategic &amp; Qualitative Factors Buy vs. Lease</a:t>
            </a:r>
          </a:p>
        </p:txBody>
      </p:sp>
      <p:sp>
        <p:nvSpPr>
          <p:cNvPr id="8" name="Freeform 8"/>
          <p:cNvSpPr/>
          <p:nvPr/>
        </p:nvSpPr>
        <p:spPr>
          <a:xfrm>
            <a:off x="16851908" y="9258300"/>
            <a:ext cx="1254309" cy="968115"/>
          </a:xfrm>
          <a:custGeom>
            <a:avLst/>
            <a:gdLst/>
            <a:ahLst/>
            <a:cxnLst/>
            <a:rect l="l" t="t" r="r" b="b"/>
            <a:pathLst>
              <a:path w="1254309" h="968115">
                <a:moveTo>
                  <a:pt x="0" y="0"/>
                </a:moveTo>
                <a:lnTo>
                  <a:pt x="1254310" y="0"/>
                </a:lnTo>
                <a:lnTo>
                  <a:pt x="1254310" y="968115"/>
                </a:lnTo>
                <a:lnTo>
                  <a:pt x="0" y="968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D074625-52D7-D2E9-B381-EE0552122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74121"/>
              </p:ext>
            </p:extLst>
          </p:nvPr>
        </p:nvGraphicFramePr>
        <p:xfrm>
          <a:off x="1193962" y="1048793"/>
          <a:ext cx="16430624" cy="54380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07656">
                  <a:extLst>
                    <a:ext uri="{9D8B030D-6E8A-4147-A177-3AD203B41FA5}">
                      <a16:colId xmlns:a16="http://schemas.microsoft.com/office/drawing/2014/main" val="299027792"/>
                    </a:ext>
                  </a:extLst>
                </a:gridCol>
                <a:gridCol w="4107656">
                  <a:extLst>
                    <a:ext uri="{9D8B030D-6E8A-4147-A177-3AD203B41FA5}">
                      <a16:colId xmlns:a16="http://schemas.microsoft.com/office/drawing/2014/main" val="612501700"/>
                    </a:ext>
                  </a:extLst>
                </a:gridCol>
                <a:gridCol w="4107656">
                  <a:extLst>
                    <a:ext uri="{9D8B030D-6E8A-4147-A177-3AD203B41FA5}">
                      <a16:colId xmlns:a16="http://schemas.microsoft.com/office/drawing/2014/main" val="332281241"/>
                    </a:ext>
                  </a:extLst>
                </a:gridCol>
                <a:gridCol w="4107656">
                  <a:extLst>
                    <a:ext uri="{9D8B030D-6E8A-4147-A177-3AD203B41FA5}">
                      <a16:colId xmlns:a16="http://schemas.microsoft.com/office/drawing/2014/main" val="224518974"/>
                    </a:ext>
                  </a:extLst>
                </a:gridCol>
              </a:tblGrid>
              <a:tr h="45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Factor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Buy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Lease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Client Goal Alignment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610986"/>
                  </a:ext>
                </a:extLst>
              </a:tr>
              <a:tr h="45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Equity &amp; Asset Value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Builds equity; creates future exit value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 equity created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Strongly aligns (build equity)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301763"/>
                  </a:ext>
                </a:extLst>
              </a:tr>
              <a:tr h="790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Cash Flow Timing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Large early tax deductions increase early cash flow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recurring cash outflow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Supports early liquidity needs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6761"/>
                  </a:ext>
                </a:extLst>
              </a:tr>
              <a:tr h="790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Tax Efficiency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Depreciation and interest deduction reduce taxes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Rent fully deductible but no asset benefits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Both options tax-effective, lease more favorable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076112"/>
                  </a:ext>
                </a:extLst>
              </a:tr>
              <a:tr h="45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Control Over Space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Full control over build-out, branding, use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Subject to landlord restrictions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Aligns with control/personalization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735669"/>
                  </a:ext>
                </a:extLst>
              </a:tr>
              <a:tr h="790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Long-Term Stability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Protection against rent inflation; control over location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Risk of rising rent or loss of space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Supports stable long-term growth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38438"/>
                  </a:ext>
                </a:extLst>
              </a:tr>
              <a:tr h="45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Flexibility / Mobility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Less flexible; tied to property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Easy to relocate or expand elsewhere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Depends on business horizon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75562"/>
                  </a:ext>
                </a:extLst>
              </a:tr>
              <a:tr h="45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Exit Strategy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Potential appreciation and sale proceeds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No participation in property upside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Aligns with long-term value creation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4837"/>
                  </a:ext>
                </a:extLst>
              </a:tr>
              <a:tr h="7909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Administrative Effort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Requires loan management, depreciation schedules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Simpler administration but still requires admin of depreciation schedules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simpler, Buy more strategic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45760"/>
                  </a:ext>
                </a:extLst>
              </a:tr>
            </a:tbl>
          </a:graphicData>
        </a:graphic>
      </p:graphicFrame>
      <p:sp>
        <p:nvSpPr>
          <p:cNvPr id="17" name="TextBox 7">
            <a:extLst>
              <a:ext uri="{FF2B5EF4-FFF2-40B4-BE49-F238E27FC236}">
                <a16:creationId xmlns:a16="http://schemas.microsoft.com/office/drawing/2014/main" id="{AD348285-22F6-C9C1-7E84-E044FC98FB78}"/>
              </a:ext>
            </a:extLst>
          </p:cNvPr>
          <p:cNvSpPr txBox="1"/>
          <p:nvPr/>
        </p:nvSpPr>
        <p:spPr>
          <a:xfrm>
            <a:off x="1387340" y="7820522"/>
            <a:ext cx="15884159" cy="11079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400">
                <a:solidFill>
                  <a:srgbClr val="2B2C30"/>
                </a:solidFill>
                <a:ea typeface="+mn-lt"/>
                <a:cs typeface="+mn-lt"/>
              </a:rPr>
              <a:t>*These qualitative conclusions are fully supported by Appendix B tax rules — including 39-year building depreciation (B-49), bonus depreciation and recapture on assets (B-64–B-65), the required ordering of deductions (B-54), and interest deductibility rules for small businesses (B-43) — ensuring the strategic recommendation aligns with authoritative tax guidance.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711" y="63016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695" y="343408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909342" y="182189"/>
            <a:ext cx="13207503" cy="465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18. EBIT to Business Income Bridge (Pre-Tax, Pre-Owner Allocation)</a:t>
            </a:r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480842" y="3016250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19. Allocation of Business Income to Owners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92223" y="6171623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66353" y="5652210"/>
            <a:ext cx="15279191" cy="472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20. Individual Tax Computation on Allocated Partnership Income - Jordan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565446" y="8941477"/>
            <a:ext cx="1505437" cy="1216767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802629-3458-4940-026F-6E393A559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668771"/>
              </p:ext>
            </p:extLst>
          </p:nvPr>
        </p:nvGraphicFramePr>
        <p:xfrm>
          <a:off x="603250" y="817563"/>
          <a:ext cx="17081456" cy="20643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5182">
                  <a:extLst>
                    <a:ext uri="{9D8B030D-6E8A-4147-A177-3AD203B41FA5}">
                      <a16:colId xmlns:a16="http://schemas.microsoft.com/office/drawing/2014/main" val="1647876024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2406114761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546889655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1258300121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1271336139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1247326661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4281686667"/>
                    </a:ext>
                  </a:extLst>
                </a:gridCol>
                <a:gridCol w="2135182">
                  <a:extLst>
                    <a:ext uri="{9D8B030D-6E8A-4147-A177-3AD203B41FA5}">
                      <a16:colId xmlns:a16="http://schemas.microsoft.com/office/drawing/2014/main" val="3661984695"/>
                    </a:ext>
                  </a:extLst>
                </a:gridCol>
              </a:tblGrid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EBIT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Interest Expense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Property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Building Depreciation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FFE Depreciation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Start-up amortization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Business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372770"/>
                  </a:ext>
                </a:extLst>
              </a:tr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$192,000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$1,966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$52,573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$5,133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$123,328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171941"/>
                  </a:ext>
                </a:extLst>
              </a:tr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$205,440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$187,538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322124"/>
                  </a:ext>
                </a:extLst>
              </a:tr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$219,821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$3,622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$205,014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307048"/>
                  </a:ext>
                </a:extLst>
              </a:tr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$235,208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$2,134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$221,889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383608"/>
                  </a:ext>
                </a:extLst>
              </a:tr>
              <a:tr h="3440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$251,673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$1,335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$239,153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51081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3D3B613-556F-0769-08CB-01E3ED13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518089"/>
              </p:ext>
            </p:extLst>
          </p:nvPr>
        </p:nvGraphicFramePr>
        <p:xfrm>
          <a:off x="746125" y="3643313"/>
          <a:ext cx="16795724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98931">
                  <a:extLst>
                    <a:ext uri="{9D8B030D-6E8A-4147-A177-3AD203B41FA5}">
                      <a16:colId xmlns:a16="http://schemas.microsoft.com/office/drawing/2014/main" val="3444728131"/>
                    </a:ext>
                  </a:extLst>
                </a:gridCol>
                <a:gridCol w="4198931">
                  <a:extLst>
                    <a:ext uri="{9D8B030D-6E8A-4147-A177-3AD203B41FA5}">
                      <a16:colId xmlns:a16="http://schemas.microsoft.com/office/drawing/2014/main" val="1584446883"/>
                    </a:ext>
                  </a:extLst>
                </a:gridCol>
                <a:gridCol w="4198931">
                  <a:extLst>
                    <a:ext uri="{9D8B030D-6E8A-4147-A177-3AD203B41FA5}">
                      <a16:colId xmlns:a16="http://schemas.microsoft.com/office/drawing/2014/main" val="869530218"/>
                    </a:ext>
                  </a:extLst>
                </a:gridCol>
                <a:gridCol w="4198931">
                  <a:extLst>
                    <a:ext uri="{9D8B030D-6E8A-4147-A177-3AD203B41FA5}">
                      <a16:colId xmlns:a16="http://schemas.microsoft.com/office/drawing/2014/main" val="321479655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Business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Jordan 70%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Blake 30%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501385"/>
                  </a:ext>
                </a:extLst>
              </a:tr>
              <a:tr h="2990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$123,328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$86,330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$36,998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8587"/>
                  </a:ext>
                </a:extLst>
              </a:tr>
              <a:tr h="2990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$187,538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$131,277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$56,262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90277"/>
                  </a:ext>
                </a:extLst>
              </a:tr>
              <a:tr h="2990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$205,014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$143,510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$61,504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03474"/>
                  </a:ext>
                </a:extLst>
              </a:tr>
              <a:tr h="2990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$221,889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$155,322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$66,567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16949"/>
                  </a:ext>
                </a:extLst>
              </a:tr>
              <a:tr h="2990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$239,153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$167,407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$71,746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1394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42855AB-B893-7D30-593C-9C70D4D0D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1421"/>
              </p:ext>
            </p:extLst>
          </p:nvPr>
        </p:nvGraphicFramePr>
        <p:xfrm>
          <a:off x="714375" y="6355080"/>
          <a:ext cx="16970310" cy="22867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7031">
                  <a:extLst>
                    <a:ext uri="{9D8B030D-6E8A-4147-A177-3AD203B41FA5}">
                      <a16:colId xmlns:a16="http://schemas.microsoft.com/office/drawing/2014/main" val="988961791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191460338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2260269270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3907316447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2980707231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1040012013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2812923211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2066635779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2409249522"/>
                    </a:ext>
                  </a:extLst>
                </a:gridCol>
                <a:gridCol w="1697031">
                  <a:extLst>
                    <a:ext uri="{9D8B030D-6E8A-4147-A177-3AD203B41FA5}">
                      <a16:colId xmlns:a16="http://schemas.microsoft.com/office/drawing/2014/main" val="3650157278"/>
                    </a:ext>
                  </a:extLst>
                </a:gridCol>
              </a:tblGrid>
              <a:tr h="62969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Allocated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SE Base (92.35%)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SE Tax (15.3%)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½ SE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STD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Total Income before 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Taxable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Fed Tax @ 23%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43458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$86,330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$79,725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$12,198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$6,099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$66,231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$13,246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$52,985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$12,186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90772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$131,277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$121,234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$18,549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$9,274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$108,003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$21,601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$86,402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$19,872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981195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$143,510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$132,531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$20,277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$10,139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$119,371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$23,874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$95,497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$21,964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01008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$155,322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$143,440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$21,946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$10,973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$130,349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$26,070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$104,279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$23,984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951431"/>
                  </a:ext>
                </a:extLst>
              </a:tr>
              <a:tr h="331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$167,407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$154,600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$23,654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$11,827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$141,580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$28,316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$113,264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$26,051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598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3D51-6C92-103A-3BBE-1F51C2AC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053218E3-F495-A9ED-77D2-7E225DEA1266}"/>
              </a:ext>
            </a:extLst>
          </p:cNvPr>
          <p:cNvSpPr/>
          <p:nvPr/>
        </p:nvSpPr>
        <p:spPr>
          <a:xfrm flipV="1">
            <a:off x="1028711" y="63016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681CCAD-BDCF-4304-6430-7AAC1585C7AB}"/>
              </a:ext>
            </a:extLst>
          </p:cNvPr>
          <p:cNvSpPr/>
          <p:nvPr/>
        </p:nvSpPr>
        <p:spPr>
          <a:xfrm flipV="1">
            <a:off x="1028695" y="343408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2ACCA6-0AEC-01BD-8F62-C93CA0D6E415}"/>
              </a:ext>
            </a:extLst>
          </p:cNvPr>
          <p:cNvSpPr txBox="1"/>
          <p:nvPr/>
        </p:nvSpPr>
        <p:spPr>
          <a:xfrm>
            <a:off x="2909342" y="182189"/>
            <a:ext cx="13207503" cy="465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21. Individual Tax Computation on Allocated Partnership Income – Blake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  <a:sym typeface="Public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7A99A27-F4DE-BBC4-4957-6082B1BF4B09}"/>
              </a:ext>
            </a:extLst>
          </p:cNvPr>
          <p:cNvSpPr txBox="1"/>
          <p:nvPr/>
        </p:nvSpPr>
        <p:spPr>
          <a:xfrm>
            <a:off x="3480842" y="3016250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22. Partnership Combined Federal Tax Burden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ECB3FF-8F8D-62D1-737A-0C318A910AAF}"/>
              </a:ext>
            </a:extLst>
          </p:cNvPr>
          <p:cNvSpPr/>
          <p:nvPr/>
        </p:nvSpPr>
        <p:spPr>
          <a:xfrm flipV="1">
            <a:off x="1092223" y="630522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BB918F-7924-89A7-8BC4-471CB9C63305}"/>
              </a:ext>
            </a:extLst>
          </p:cNvPr>
          <p:cNvSpPr txBox="1"/>
          <p:nvPr/>
        </p:nvSpPr>
        <p:spPr>
          <a:xfrm>
            <a:off x="1751509" y="5800652"/>
            <a:ext cx="15279191" cy="472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23. S Corp Wage Allocation by Owner (Schedule 1)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93DC059-9C49-D0EF-E817-CAB098BA9E09}"/>
              </a:ext>
            </a:extLst>
          </p:cNvPr>
          <p:cNvSpPr/>
          <p:nvPr/>
        </p:nvSpPr>
        <p:spPr>
          <a:xfrm>
            <a:off x="16565446" y="8941477"/>
            <a:ext cx="1505437" cy="1216767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473F4-9396-689F-DAC9-00F5600B2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204156"/>
              </p:ext>
            </p:extLst>
          </p:nvPr>
        </p:nvGraphicFramePr>
        <p:xfrm>
          <a:off x="547688" y="815427"/>
          <a:ext cx="17319580" cy="2148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1958">
                  <a:extLst>
                    <a:ext uri="{9D8B030D-6E8A-4147-A177-3AD203B41FA5}">
                      <a16:colId xmlns:a16="http://schemas.microsoft.com/office/drawing/2014/main" val="1520718154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3849816991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4077268242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3434040891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1849724376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792402647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4147979472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2507824014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116458872"/>
                    </a:ext>
                  </a:extLst>
                </a:gridCol>
                <a:gridCol w="1731958">
                  <a:extLst>
                    <a:ext uri="{9D8B030D-6E8A-4147-A177-3AD203B41FA5}">
                      <a16:colId xmlns:a16="http://schemas.microsoft.com/office/drawing/2014/main" val="4149567277"/>
                    </a:ext>
                  </a:extLst>
                </a:gridCol>
              </a:tblGrid>
              <a:tr h="5500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Allocated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SE Base (92.35%)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SE Tax (15.3%)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½ SE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STD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Income before 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Taxable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Fed Tax @ 23%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897572"/>
                  </a:ext>
                </a:extLst>
              </a:tr>
              <a:tr h="2903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$36,998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$34,168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$5,228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$2,614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$20,385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$4,077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$16,308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$3,751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34733"/>
                  </a:ext>
                </a:extLst>
              </a:tr>
              <a:tr h="2903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$56,262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$51,958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$7,950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$3,975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$38,287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$7,657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$30,629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$7,045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63261"/>
                  </a:ext>
                </a:extLst>
              </a:tr>
              <a:tr h="2903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$61,504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$56,799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$8,690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$4,345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$43,159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$8,632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$34,527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$7,941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940979"/>
                  </a:ext>
                </a:extLst>
              </a:tr>
              <a:tr h="2903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$66,567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$61,474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$9,406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$4,703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$47,864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$9,573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$38,291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$8,807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19594"/>
                  </a:ext>
                </a:extLst>
              </a:tr>
              <a:tr h="2903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$71,746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$66,257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$10,137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$5,069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$52,677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$10,535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$42,142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$9,693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45978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CBAC1FF-5F1A-EBF1-F553-69A074FFC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29596"/>
              </p:ext>
            </p:extLst>
          </p:nvPr>
        </p:nvGraphicFramePr>
        <p:xfrm>
          <a:off x="526967" y="3547753"/>
          <a:ext cx="17308264" cy="2186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27066">
                  <a:extLst>
                    <a:ext uri="{9D8B030D-6E8A-4147-A177-3AD203B41FA5}">
                      <a16:colId xmlns:a16="http://schemas.microsoft.com/office/drawing/2014/main" val="4009879544"/>
                    </a:ext>
                  </a:extLst>
                </a:gridCol>
                <a:gridCol w="4327066">
                  <a:extLst>
                    <a:ext uri="{9D8B030D-6E8A-4147-A177-3AD203B41FA5}">
                      <a16:colId xmlns:a16="http://schemas.microsoft.com/office/drawing/2014/main" val="575847945"/>
                    </a:ext>
                  </a:extLst>
                </a:gridCol>
                <a:gridCol w="4327066">
                  <a:extLst>
                    <a:ext uri="{9D8B030D-6E8A-4147-A177-3AD203B41FA5}">
                      <a16:colId xmlns:a16="http://schemas.microsoft.com/office/drawing/2014/main" val="803168386"/>
                    </a:ext>
                  </a:extLst>
                </a:gridCol>
                <a:gridCol w="4327066">
                  <a:extLst>
                    <a:ext uri="{9D8B030D-6E8A-4147-A177-3AD203B41FA5}">
                      <a16:colId xmlns:a16="http://schemas.microsoft.com/office/drawing/2014/main" val="3501833644"/>
                    </a:ext>
                  </a:extLst>
                </a:gridCol>
              </a:tblGrid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Fed Tax (J+B)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SE Cash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Total Fed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204612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$15,937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$17,426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$33,363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125823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$26,917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$26,498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$53,416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4593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$29,906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$28,968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$58,873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533038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$32,791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$31,352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$64,143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312283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$35,743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$33,791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$69,535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64726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$141,295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$138,035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$279,329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4277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4BE2B97-D321-A081-DD11-3226274D8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798"/>
              </p:ext>
            </p:extLst>
          </p:nvPr>
        </p:nvGraphicFramePr>
        <p:xfrm>
          <a:off x="400793" y="6521929"/>
          <a:ext cx="17620012" cy="20674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05003">
                  <a:extLst>
                    <a:ext uri="{9D8B030D-6E8A-4147-A177-3AD203B41FA5}">
                      <a16:colId xmlns:a16="http://schemas.microsoft.com/office/drawing/2014/main" val="94386806"/>
                    </a:ext>
                  </a:extLst>
                </a:gridCol>
                <a:gridCol w="4405003">
                  <a:extLst>
                    <a:ext uri="{9D8B030D-6E8A-4147-A177-3AD203B41FA5}">
                      <a16:colId xmlns:a16="http://schemas.microsoft.com/office/drawing/2014/main" val="1420732749"/>
                    </a:ext>
                  </a:extLst>
                </a:gridCol>
                <a:gridCol w="4405003">
                  <a:extLst>
                    <a:ext uri="{9D8B030D-6E8A-4147-A177-3AD203B41FA5}">
                      <a16:colId xmlns:a16="http://schemas.microsoft.com/office/drawing/2014/main" val="1144955453"/>
                    </a:ext>
                  </a:extLst>
                </a:gridCol>
                <a:gridCol w="4405003">
                  <a:extLst>
                    <a:ext uri="{9D8B030D-6E8A-4147-A177-3AD203B41FA5}">
                      <a16:colId xmlns:a16="http://schemas.microsoft.com/office/drawing/2014/main" val="1470414361"/>
                    </a:ext>
                  </a:extLst>
                </a:gridCol>
              </a:tblGrid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Wages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243903"/>
                  </a:ext>
                </a:extLst>
              </a:tr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42968"/>
                  </a:ext>
                </a:extLst>
              </a:tr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$79,800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$55,860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$23,940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0630"/>
                  </a:ext>
                </a:extLst>
              </a:tr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$90,972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$63,680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$27,292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196989"/>
                  </a:ext>
                </a:extLst>
              </a:tr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$103,708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$72,596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$31,112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741287"/>
                  </a:ext>
                </a:extLst>
              </a:tr>
              <a:tr h="34457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$118,227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$82,759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$35,468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33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275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093B-9856-8A02-DCBD-A85AABCB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E7E9C64D-E3C1-B01C-7851-16970C0278EB}"/>
              </a:ext>
            </a:extLst>
          </p:cNvPr>
          <p:cNvSpPr/>
          <p:nvPr/>
        </p:nvSpPr>
        <p:spPr>
          <a:xfrm flipV="1">
            <a:off x="1028711" y="63016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BCF6426-FC7A-310C-3634-459796F58ED3}"/>
              </a:ext>
            </a:extLst>
          </p:cNvPr>
          <p:cNvSpPr/>
          <p:nvPr/>
        </p:nvSpPr>
        <p:spPr>
          <a:xfrm flipV="1">
            <a:off x="1028695" y="343408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DE5C001-156A-18D6-DEFA-21C5027836D2}"/>
              </a:ext>
            </a:extLst>
          </p:cNvPr>
          <p:cNvSpPr txBox="1"/>
          <p:nvPr/>
        </p:nvSpPr>
        <p:spPr>
          <a:xfrm>
            <a:off x="2909342" y="182189"/>
            <a:ext cx="13207503" cy="465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24. S-Corp Payroll Tax &amp; Deduction Benefit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  <a:sym typeface="Public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72075FC-F3EE-164F-0393-6B7A15A90C87}"/>
              </a:ext>
            </a:extLst>
          </p:cNvPr>
          <p:cNvSpPr txBox="1"/>
          <p:nvPr/>
        </p:nvSpPr>
        <p:spPr>
          <a:xfrm>
            <a:off x="3480842" y="3016250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25. S Corp Pass Through Income After Wages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6C06F4F-67DF-46B5-2884-F564FDC7BC19}"/>
              </a:ext>
            </a:extLst>
          </p:cNvPr>
          <p:cNvSpPr/>
          <p:nvPr/>
        </p:nvSpPr>
        <p:spPr>
          <a:xfrm flipV="1">
            <a:off x="1092223" y="630522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71C5C2-3DE6-CFAE-B014-7F26F3A5135F}"/>
              </a:ext>
            </a:extLst>
          </p:cNvPr>
          <p:cNvSpPr txBox="1"/>
          <p:nvPr/>
        </p:nvSpPr>
        <p:spPr>
          <a:xfrm>
            <a:off x="1751509" y="5800652"/>
            <a:ext cx="15279191" cy="472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26. S Corp Pass Through Allocations to Owners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61BCD1B-1498-F1AE-8B31-3F895AC2904E}"/>
              </a:ext>
            </a:extLst>
          </p:cNvPr>
          <p:cNvSpPr/>
          <p:nvPr/>
        </p:nvSpPr>
        <p:spPr>
          <a:xfrm>
            <a:off x="16565446" y="8941477"/>
            <a:ext cx="1505437" cy="1216767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3C3B61-3C9F-9A8C-7396-05DF9670F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31701"/>
              </p:ext>
            </p:extLst>
          </p:nvPr>
        </p:nvGraphicFramePr>
        <p:xfrm>
          <a:off x="593766" y="846117"/>
          <a:ext cx="17174672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3668">
                  <a:extLst>
                    <a:ext uri="{9D8B030D-6E8A-4147-A177-3AD203B41FA5}">
                      <a16:colId xmlns:a16="http://schemas.microsoft.com/office/drawing/2014/main" val="423673303"/>
                    </a:ext>
                  </a:extLst>
                </a:gridCol>
                <a:gridCol w="4293668">
                  <a:extLst>
                    <a:ext uri="{9D8B030D-6E8A-4147-A177-3AD203B41FA5}">
                      <a16:colId xmlns:a16="http://schemas.microsoft.com/office/drawing/2014/main" val="1247129540"/>
                    </a:ext>
                  </a:extLst>
                </a:gridCol>
                <a:gridCol w="4293668">
                  <a:extLst>
                    <a:ext uri="{9D8B030D-6E8A-4147-A177-3AD203B41FA5}">
                      <a16:colId xmlns:a16="http://schemas.microsoft.com/office/drawing/2014/main" val="3141051051"/>
                    </a:ext>
                  </a:extLst>
                </a:gridCol>
                <a:gridCol w="4293668">
                  <a:extLst>
                    <a:ext uri="{9D8B030D-6E8A-4147-A177-3AD203B41FA5}">
                      <a16:colId xmlns:a16="http://schemas.microsoft.com/office/drawing/2014/main" val="3871758525"/>
                    </a:ext>
                  </a:extLst>
                </a:gridCol>
              </a:tblGrid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Total Wages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Employer FICA (×7.65%)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 Shield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26886"/>
                  </a:ext>
                </a:extLst>
              </a:tr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$5,355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$1,232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84306"/>
                  </a:ext>
                </a:extLst>
              </a:tr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$79,800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$6,105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$1,404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969790"/>
                  </a:ext>
                </a:extLst>
              </a:tr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$90,972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$6,959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$1,601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61477"/>
                  </a:ext>
                </a:extLst>
              </a:tr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$103,708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$7,934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$1,825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314079"/>
                  </a:ext>
                </a:extLst>
              </a:tr>
              <a:tr h="299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$118,227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$9,044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$2,080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86967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CFC81B-6710-3804-565B-33712A241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22351"/>
              </p:ext>
            </p:extLst>
          </p:nvPr>
        </p:nvGraphicFramePr>
        <p:xfrm>
          <a:off x="734785" y="3621974"/>
          <a:ext cx="17144976" cy="19605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86244">
                  <a:extLst>
                    <a:ext uri="{9D8B030D-6E8A-4147-A177-3AD203B41FA5}">
                      <a16:colId xmlns:a16="http://schemas.microsoft.com/office/drawing/2014/main" val="1840910317"/>
                    </a:ext>
                  </a:extLst>
                </a:gridCol>
                <a:gridCol w="4286244">
                  <a:extLst>
                    <a:ext uri="{9D8B030D-6E8A-4147-A177-3AD203B41FA5}">
                      <a16:colId xmlns:a16="http://schemas.microsoft.com/office/drawing/2014/main" val="1992098484"/>
                    </a:ext>
                  </a:extLst>
                </a:gridCol>
                <a:gridCol w="4286244">
                  <a:extLst>
                    <a:ext uri="{9D8B030D-6E8A-4147-A177-3AD203B41FA5}">
                      <a16:colId xmlns:a16="http://schemas.microsoft.com/office/drawing/2014/main" val="2428525310"/>
                    </a:ext>
                  </a:extLst>
                </a:gridCol>
                <a:gridCol w="4286244">
                  <a:extLst>
                    <a:ext uri="{9D8B030D-6E8A-4147-A177-3AD203B41FA5}">
                      <a16:colId xmlns:a16="http://schemas.microsoft.com/office/drawing/2014/main" val="2996352078"/>
                    </a:ext>
                  </a:extLst>
                </a:gridCol>
              </a:tblGrid>
              <a:tr h="3216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Business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Wages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PT Income (BI-Wages-Employer FICA)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261879"/>
                  </a:ext>
                </a:extLst>
              </a:tr>
              <a:tr h="3216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$123,328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$70,000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$47,973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483396"/>
                  </a:ext>
                </a:extLst>
              </a:tr>
              <a:tr h="3216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$187,538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$79,800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$101,634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740164"/>
                  </a:ext>
                </a:extLst>
              </a:tr>
              <a:tr h="3216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$205,014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$90,972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$107,083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817740"/>
                  </a:ext>
                </a:extLst>
              </a:tr>
              <a:tr h="3216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$221,889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$103,708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$110,247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066010"/>
                  </a:ext>
                </a:extLst>
              </a:tr>
              <a:tr h="35228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$239,153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$118,227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$111,882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32606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7B9D243-F51D-4B96-E83F-BFA85FFBE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21863"/>
              </p:ext>
            </p:extLst>
          </p:nvPr>
        </p:nvGraphicFramePr>
        <p:xfrm>
          <a:off x="927760" y="6492240"/>
          <a:ext cx="16328556" cy="21110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42852">
                  <a:extLst>
                    <a:ext uri="{9D8B030D-6E8A-4147-A177-3AD203B41FA5}">
                      <a16:colId xmlns:a16="http://schemas.microsoft.com/office/drawing/2014/main" val="3010671063"/>
                    </a:ext>
                  </a:extLst>
                </a:gridCol>
                <a:gridCol w="5442852">
                  <a:extLst>
                    <a:ext uri="{9D8B030D-6E8A-4147-A177-3AD203B41FA5}">
                      <a16:colId xmlns:a16="http://schemas.microsoft.com/office/drawing/2014/main" val="3414935049"/>
                    </a:ext>
                  </a:extLst>
                </a:gridCol>
                <a:gridCol w="5442852">
                  <a:extLst>
                    <a:ext uri="{9D8B030D-6E8A-4147-A177-3AD203B41FA5}">
                      <a16:colId xmlns:a16="http://schemas.microsoft.com/office/drawing/2014/main" val="1838078572"/>
                    </a:ext>
                  </a:extLst>
                </a:gridCol>
              </a:tblGrid>
              <a:tr h="359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Jordan 70%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Blake 30%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76809"/>
                  </a:ext>
                </a:extLst>
              </a:tr>
              <a:tr h="359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$33,581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$14,392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7001"/>
                  </a:ext>
                </a:extLst>
              </a:tr>
              <a:tr h="359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$71,144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$30,490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817614"/>
                  </a:ext>
                </a:extLst>
              </a:tr>
              <a:tr h="359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$74,958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$32,125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929589"/>
                  </a:ext>
                </a:extLst>
              </a:tr>
              <a:tr h="359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$77,173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$33,074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38665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$78,317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$33,564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55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00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5C6C-4591-102B-0BE2-C3540EDC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205BE056-A290-ACC8-BA59-1AE20552CF2D}"/>
              </a:ext>
            </a:extLst>
          </p:cNvPr>
          <p:cNvSpPr/>
          <p:nvPr/>
        </p:nvSpPr>
        <p:spPr>
          <a:xfrm flipV="1">
            <a:off x="1028711" y="630164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B09D3F5-7A48-9526-754F-EE8700067DB7}"/>
              </a:ext>
            </a:extLst>
          </p:cNvPr>
          <p:cNvSpPr/>
          <p:nvPr/>
        </p:nvSpPr>
        <p:spPr>
          <a:xfrm flipV="1">
            <a:off x="1028695" y="343408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37174D-D5DC-6F54-32E9-D1A5FB814DFB}"/>
              </a:ext>
            </a:extLst>
          </p:cNvPr>
          <p:cNvSpPr txBox="1"/>
          <p:nvPr/>
        </p:nvSpPr>
        <p:spPr>
          <a:xfrm>
            <a:off x="2909342" y="182189"/>
            <a:ext cx="13207503" cy="465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27. S Corp QBI Deduction Allocation by Owner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  <a:sym typeface="Public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211426-AEFA-5F33-0EFE-8E28BC8FFB5F}"/>
              </a:ext>
            </a:extLst>
          </p:cNvPr>
          <p:cNvSpPr txBox="1"/>
          <p:nvPr/>
        </p:nvSpPr>
        <p:spPr>
          <a:xfrm>
            <a:off x="3480842" y="3016250"/>
            <a:ext cx="10627816" cy="45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28. Owner Level Taxable Income Calculation - Jordan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1C06CAC-1463-BD59-02CF-92545EABDCDE}"/>
              </a:ext>
            </a:extLst>
          </p:cNvPr>
          <p:cNvSpPr/>
          <p:nvPr/>
        </p:nvSpPr>
        <p:spPr>
          <a:xfrm flipV="1">
            <a:off x="1092223" y="6305220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47A3C9B-E785-5E55-EBD7-D940263D7D0E}"/>
              </a:ext>
            </a:extLst>
          </p:cNvPr>
          <p:cNvSpPr txBox="1"/>
          <p:nvPr/>
        </p:nvSpPr>
        <p:spPr>
          <a:xfrm>
            <a:off x="1469470" y="5800652"/>
            <a:ext cx="15279191" cy="472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29. Owner Level Taxable Income Calculation – Blake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48F143C-DD0F-00B2-B801-2DF272089B02}"/>
              </a:ext>
            </a:extLst>
          </p:cNvPr>
          <p:cNvSpPr/>
          <p:nvPr/>
        </p:nvSpPr>
        <p:spPr>
          <a:xfrm>
            <a:off x="16565446" y="8941477"/>
            <a:ext cx="1505437" cy="1216767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3EE732-E750-FBEB-5C2D-6BC07CA97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61516"/>
              </p:ext>
            </p:extLst>
          </p:nvPr>
        </p:nvGraphicFramePr>
        <p:xfrm>
          <a:off x="742207" y="920337"/>
          <a:ext cx="17055918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5306">
                  <a:extLst>
                    <a:ext uri="{9D8B030D-6E8A-4147-A177-3AD203B41FA5}">
                      <a16:colId xmlns:a16="http://schemas.microsoft.com/office/drawing/2014/main" val="2073115175"/>
                    </a:ext>
                  </a:extLst>
                </a:gridCol>
                <a:gridCol w="5685306">
                  <a:extLst>
                    <a:ext uri="{9D8B030D-6E8A-4147-A177-3AD203B41FA5}">
                      <a16:colId xmlns:a16="http://schemas.microsoft.com/office/drawing/2014/main" val="1383065280"/>
                    </a:ext>
                  </a:extLst>
                </a:gridCol>
                <a:gridCol w="5685306">
                  <a:extLst>
                    <a:ext uri="{9D8B030D-6E8A-4147-A177-3AD203B41FA5}">
                      <a16:colId xmlns:a16="http://schemas.microsoft.com/office/drawing/2014/main" val="4123532266"/>
                    </a:ext>
                  </a:extLst>
                </a:gridCol>
              </a:tblGrid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Jordan QBI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Blake QBI Deduction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494181"/>
                  </a:ext>
                </a:extLst>
              </a:tr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$2,878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41571"/>
                  </a:ext>
                </a:extLst>
              </a:tr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$14,229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798338"/>
                  </a:ext>
                </a:extLst>
              </a:tr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$14,992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$6,425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47295"/>
                  </a:ext>
                </a:extLst>
              </a:tr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$15,435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$6,615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20159"/>
                  </a:ext>
                </a:extLst>
              </a:tr>
              <a:tr h="29915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$15,663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445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87C0C9B-4D0E-A870-84A3-77C66C51E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64705"/>
              </p:ext>
            </p:extLst>
          </p:nvPr>
        </p:nvGraphicFramePr>
        <p:xfrm>
          <a:off x="549233" y="3644240"/>
          <a:ext cx="17115272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9409">
                  <a:extLst>
                    <a:ext uri="{9D8B030D-6E8A-4147-A177-3AD203B41FA5}">
                      <a16:colId xmlns:a16="http://schemas.microsoft.com/office/drawing/2014/main" val="1104089730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215559350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1734786300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1040061251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769453624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3609211724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4275324691"/>
                    </a:ext>
                  </a:extLst>
                </a:gridCol>
                <a:gridCol w="2139409">
                  <a:extLst>
                    <a:ext uri="{9D8B030D-6E8A-4147-A177-3AD203B41FA5}">
                      <a16:colId xmlns:a16="http://schemas.microsoft.com/office/drawing/2014/main" val="381235163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Owner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Wages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PT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Std Ded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Taxable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Fed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5295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$49,000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$33,581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$61,865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$14,229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8688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$55,860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$71,144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$14,229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$98,775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$22,718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25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$63,680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$74,958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$14,992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$109,646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$25,219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7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$72,596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$77,173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$15,435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$120,335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$27,677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33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Jordan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$82,759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$78,317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$15,663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$131,413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$30,225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998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0811B5-3257-7CDB-B73C-3FCB430DA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60372"/>
              </p:ext>
            </p:extLst>
          </p:nvPr>
        </p:nvGraphicFramePr>
        <p:xfrm>
          <a:off x="526967" y="6516584"/>
          <a:ext cx="17234024" cy="20632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54253">
                  <a:extLst>
                    <a:ext uri="{9D8B030D-6E8A-4147-A177-3AD203B41FA5}">
                      <a16:colId xmlns:a16="http://schemas.microsoft.com/office/drawing/2014/main" val="160366279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3744303568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4175334391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602165195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3957573897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2044635056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104152"/>
                    </a:ext>
                  </a:extLst>
                </a:gridCol>
                <a:gridCol w="2154253">
                  <a:extLst>
                    <a:ext uri="{9D8B030D-6E8A-4147-A177-3AD203B41FA5}">
                      <a16:colId xmlns:a16="http://schemas.microsoft.com/office/drawing/2014/main" val="3560049651"/>
                    </a:ext>
                  </a:extLst>
                </a:gridCol>
              </a:tblGrid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Owner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Wages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PT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Std Ded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QBI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Taxable Income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b">
                        <a:buNone/>
                      </a:pPr>
                      <a:r>
                        <a:rPr lang="en-US" b="1">
                          <a:effectLst/>
                        </a:rPr>
                        <a:t>Fed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495063"/>
                  </a:ext>
                </a:extLst>
              </a:tr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$21,000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$14,392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$2,878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$18,514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$4,258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737420"/>
                  </a:ext>
                </a:extLst>
              </a:tr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$23,940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$30,490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$6,098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$34,332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$7,896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14310"/>
                  </a:ext>
                </a:extLst>
              </a:tr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$27,292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$32,125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$6,425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$38,992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$8,968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155627"/>
                  </a:ext>
                </a:extLst>
              </a:tr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$31,112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$33,074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$6,615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$43,571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$10,021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315666"/>
                  </a:ext>
                </a:extLst>
              </a:tr>
              <a:tr h="34387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Blake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$35,468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$33,564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$14,000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$6,713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$48,320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$11,114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235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227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567AD-045C-18FE-13DA-A4F3D443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E7A20DF-57A0-26FF-3DCF-B15FB31F2E3C}"/>
              </a:ext>
            </a:extLst>
          </p:cNvPr>
          <p:cNvSpPr/>
          <p:nvPr/>
        </p:nvSpPr>
        <p:spPr>
          <a:xfrm flipV="1">
            <a:off x="1028711" y="630164"/>
            <a:ext cx="16230594" cy="38509"/>
          </a:xfrm>
          <a:prstGeom prst="line">
            <a:avLst/>
          </a:prstGeom>
          <a:ln w="95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9C858CA-6915-453F-95D0-C3151CD82E87}"/>
              </a:ext>
            </a:extLst>
          </p:cNvPr>
          <p:cNvSpPr/>
          <p:nvPr/>
        </p:nvSpPr>
        <p:spPr>
          <a:xfrm flipV="1">
            <a:off x="1028695" y="3434080"/>
            <a:ext cx="16230594" cy="38509"/>
          </a:xfrm>
          <a:prstGeom prst="line">
            <a:avLst/>
          </a:prstGeom>
          <a:ln w="95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432645C-D73A-52D4-B566-664BAF8113C4}"/>
              </a:ext>
            </a:extLst>
          </p:cNvPr>
          <p:cNvSpPr txBox="1"/>
          <p:nvPr/>
        </p:nvSpPr>
        <p:spPr>
          <a:xfrm>
            <a:off x="2923902" y="131227"/>
            <a:ext cx="13207503" cy="465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30. S Corp Federal Tax Cash Flow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  <a:sym typeface="Public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691C7C-63ED-7721-5042-351F95054721}"/>
              </a:ext>
            </a:extLst>
          </p:cNvPr>
          <p:cNvSpPr txBox="1"/>
          <p:nvPr/>
        </p:nvSpPr>
        <p:spPr>
          <a:xfrm>
            <a:off x="3480842" y="3016250"/>
            <a:ext cx="10627816" cy="4561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31. Partnership – Present Value of Federal Tax Outflows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7F02B1D-B625-25A0-B525-05B6E2FE65CF}"/>
              </a:ext>
            </a:extLst>
          </p:cNvPr>
          <p:cNvSpPr/>
          <p:nvPr/>
        </p:nvSpPr>
        <p:spPr>
          <a:xfrm flipV="1">
            <a:off x="1092223" y="6305220"/>
            <a:ext cx="16230594" cy="38509"/>
          </a:xfrm>
          <a:prstGeom prst="line">
            <a:avLst/>
          </a:prstGeom>
          <a:ln w="95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4CD651-24E2-71FC-8CEC-2708E713D658}"/>
              </a:ext>
            </a:extLst>
          </p:cNvPr>
          <p:cNvSpPr txBox="1"/>
          <p:nvPr/>
        </p:nvSpPr>
        <p:spPr>
          <a:xfrm>
            <a:off x="1469470" y="5852607"/>
            <a:ext cx="15279191" cy="47202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50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Figure 32. S Corp NPV of Federal Tax Outflows 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CB5AA96-9E08-AD89-A60C-306D91D22491}"/>
              </a:ext>
            </a:extLst>
          </p:cNvPr>
          <p:cNvSpPr/>
          <p:nvPr/>
        </p:nvSpPr>
        <p:spPr>
          <a:xfrm>
            <a:off x="16728731" y="9149295"/>
            <a:ext cx="1342152" cy="1008949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DA1C2B-53B1-F720-F16C-EF73AFA09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03427"/>
              </p:ext>
            </p:extLst>
          </p:nvPr>
        </p:nvGraphicFramePr>
        <p:xfrm>
          <a:off x="571500" y="860960"/>
          <a:ext cx="17278560" cy="21869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9760">
                  <a:extLst>
                    <a:ext uri="{9D8B030D-6E8A-4147-A177-3AD203B41FA5}">
                      <a16:colId xmlns:a16="http://schemas.microsoft.com/office/drawing/2014/main" val="618883346"/>
                    </a:ext>
                  </a:extLst>
                </a:gridCol>
                <a:gridCol w="2879760">
                  <a:extLst>
                    <a:ext uri="{9D8B030D-6E8A-4147-A177-3AD203B41FA5}">
                      <a16:colId xmlns:a16="http://schemas.microsoft.com/office/drawing/2014/main" val="3823717727"/>
                    </a:ext>
                  </a:extLst>
                </a:gridCol>
                <a:gridCol w="2879760">
                  <a:extLst>
                    <a:ext uri="{9D8B030D-6E8A-4147-A177-3AD203B41FA5}">
                      <a16:colId xmlns:a16="http://schemas.microsoft.com/office/drawing/2014/main" val="2965418120"/>
                    </a:ext>
                  </a:extLst>
                </a:gridCol>
                <a:gridCol w="2879760">
                  <a:extLst>
                    <a:ext uri="{9D8B030D-6E8A-4147-A177-3AD203B41FA5}">
                      <a16:colId xmlns:a16="http://schemas.microsoft.com/office/drawing/2014/main" val="489402606"/>
                    </a:ext>
                  </a:extLst>
                </a:gridCol>
                <a:gridCol w="2879760">
                  <a:extLst>
                    <a:ext uri="{9D8B030D-6E8A-4147-A177-3AD203B41FA5}">
                      <a16:colId xmlns:a16="http://schemas.microsoft.com/office/drawing/2014/main" val="281917195"/>
                    </a:ext>
                  </a:extLst>
                </a:gridCol>
                <a:gridCol w="2879760">
                  <a:extLst>
                    <a:ext uri="{9D8B030D-6E8A-4147-A177-3AD203B41FA5}">
                      <a16:colId xmlns:a16="http://schemas.microsoft.com/office/drawing/2014/main" val="3914012037"/>
                    </a:ext>
                  </a:extLst>
                </a:gridCol>
              </a:tblGrid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Jordan Fed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Blake Fed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Employer FICA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Employee FICA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Total fed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736285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14,229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4,258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5,355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5,355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29,197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49034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22,718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7,896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6,105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6,105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42,824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006777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25,219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8,968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6,959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6,959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48,106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420253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27,677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10,021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7,934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7,934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53,566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368012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30,225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11,114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9,044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9,044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59,427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755786"/>
                  </a:ext>
                </a:extLst>
              </a:tr>
              <a:tr h="3073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233,119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83584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87952FC-06AD-666D-0884-49C2F386F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23665"/>
              </p:ext>
            </p:extLst>
          </p:nvPr>
        </p:nvGraphicFramePr>
        <p:xfrm>
          <a:off x="445324" y="3577441"/>
          <a:ext cx="17323112" cy="2227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30778">
                  <a:extLst>
                    <a:ext uri="{9D8B030D-6E8A-4147-A177-3AD203B41FA5}">
                      <a16:colId xmlns:a16="http://schemas.microsoft.com/office/drawing/2014/main" val="282741433"/>
                    </a:ext>
                  </a:extLst>
                </a:gridCol>
                <a:gridCol w="4330778">
                  <a:extLst>
                    <a:ext uri="{9D8B030D-6E8A-4147-A177-3AD203B41FA5}">
                      <a16:colId xmlns:a16="http://schemas.microsoft.com/office/drawing/2014/main" val="1323304952"/>
                    </a:ext>
                  </a:extLst>
                </a:gridCol>
                <a:gridCol w="4330778">
                  <a:extLst>
                    <a:ext uri="{9D8B030D-6E8A-4147-A177-3AD203B41FA5}">
                      <a16:colId xmlns:a16="http://schemas.microsoft.com/office/drawing/2014/main" val="2906150320"/>
                    </a:ext>
                  </a:extLst>
                </a:gridCol>
                <a:gridCol w="4330778">
                  <a:extLst>
                    <a:ext uri="{9D8B030D-6E8A-4147-A177-3AD203B41FA5}">
                      <a16:colId xmlns:a16="http://schemas.microsoft.com/office/drawing/2014/main" val="1851044039"/>
                    </a:ext>
                  </a:extLst>
                </a:gridCol>
              </a:tblGrid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Total Fed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DF @5%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031943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$33,363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0.95238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$31,774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628526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$53,416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0.90703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$48,450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161569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$58,873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0.86384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$50,857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216626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$64,143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$52,771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90919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$69,535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0.78353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$54,482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184106"/>
                  </a:ext>
                </a:extLst>
              </a:tr>
              <a:tr h="3182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NPV Total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$279,329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$238,334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04490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39BA197-F5F5-3E00-F4ED-6464A059A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98048"/>
              </p:ext>
            </p:extLst>
          </p:nvPr>
        </p:nvGraphicFramePr>
        <p:xfrm>
          <a:off x="445325" y="6603225"/>
          <a:ext cx="17308284" cy="23943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27071">
                  <a:extLst>
                    <a:ext uri="{9D8B030D-6E8A-4147-A177-3AD203B41FA5}">
                      <a16:colId xmlns:a16="http://schemas.microsoft.com/office/drawing/2014/main" val="1692718258"/>
                    </a:ext>
                  </a:extLst>
                </a:gridCol>
                <a:gridCol w="4327071">
                  <a:extLst>
                    <a:ext uri="{9D8B030D-6E8A-4147-A177-3AD203B41FA5}">
                      <a16:colId xmlns:a16="http://schemas.microsoft.com/office/drawing/2014/main" val="1798964808"/>
                    </a:ext>
                  </a:extLst>
                </a:gridCol>
                <a:gridCol w="4327071">
                  <a:extLst>
                    <a:ext uri="{9D8B030D-6E8A-4147-A177-3AD203B41FA5}">
                      <a16:colId xmlns:a16="http://schemas.microsoft.com/office/drawing/2014/main" val="1376926594"/>
                    </a:ext>
                  </a:extLst>
                </a:gridCol>
                <a:gridCol w="4327071">
                  <a:extLst>
                    <a:ext uri="{9D8B030D-6E8A-4147-A177-3AD203B41FA5}">
                      <a16:colId xmlns:a16="http://schemas.microsoft.com/office/drawing/2014/main" val="263496124"/>
                    </a:ext>
                  </a:extLst>
                </a:gridCol>
              </a:tblGrid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DF @5%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PV Tax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616394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$29,197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0.95238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$27,807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88744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$42,824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0.90703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$38,843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366937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$48,106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0.86384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$41,555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710314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2029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$53,566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0.8227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$44,068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518988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2030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$59,427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0.78353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$46,563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74496"/>
                  </a:ext>
                </a:extLst>
              </a:tr>
              <a:tr h="34204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NPV Total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$233,119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$198,836</a:t>
                      </a:r>
                    </a:p>
                  </a:txBody>
                  <a:tcPr marL="28575" marR="28575" marT="19050" marB="1905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6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578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11" y="780977"/>
            <a:ext cx="16230594" cy="38509"/>
          </a:xfrm>
          <a:prstGeom prst="line">
            <a:avLst/>
          </a:prstGeom>
          <a:ln w="9525" cap="flat">
            <a:solidFill>
              <a:srgbClr val="3B8C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004592" y="269501"/>
            <a:ext cx="12961441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800" b="1">
                <a:solidFill>
                  <a:srgbClr val="2B2C30"/>
                </a:solidFill>
                <a:latin typeface="Public Sans Bold"/>
              </a:rPr>
              <a:t>Figure 33. Strategic &amp; Qualitative Factors S Corp Vs. Partnership</a:t>
            </a:r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097134" y="8608102"/>
            <a:ext cx="1926124" cy="1486642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4" y="0"/>
                </a:lnTo>
                <a:lnTo>
                  <a:pt x="1926124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FCFA58-CEF0-E331-F841-D16F8B578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967124"/>
              </p:ext>
            </p:extLst>
          </p:nvPr>
        </p:nvGraphicFramePr>
        <p:xfrm>
          <a:off x="1031875" y="1103312"/>
          <a:ext cx="16617150" cy="72965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27499">
                  <a:extLst>
                    <a:ext uri="{9D8B030D-6E8A-4147-A177-3AD203B41FA5}">
                      <a16:colId xmlns:a16="http://schemas.microsoft.com/office/drawing/2014/main" val="2807287197"/>
                    </a:ext>
                  </a:extLst>
                </a:gridCol>
                <a:gridCol w="4163217">
                  <a:extLst>
                    <a:ext uri="{9D8B030D-6E8A-4147-A177-3AD203B41FA5}">
                      <a16:colId xmlns:a16="http://schemas.microsoft.com/office/drawing/2014/main" val="1784143548"/>
                    </a:ext>
                  </a:extLst>
                </a:gridCol>
                <a:gridCol w="4163217">
                  <a:extLst>
                    <a:ext uri="{9D8B030D-6E8A-4147-A177-3AD203B41FA5}">
                      <a16:colId xmlns:a16="http://schemas.microsoft.com/office/drawing/2014/main" val="3937363224"/>
                    </a:ext>
                  </a:extLst>
                </a:gridCol>
                <a:gridCol w="4163217">
                  <a:extLst>
                    <a:ext uri="{9D8B030D-6E8A-4147-A177-3AD203B41FA5}">
                      <a16:colId xmlns:a16="http://schemas.microsoft.com/office/drawing/2014/main" val="3869434349"/>
                    </a:ext>
                  </a:extLst>
                </a:gridCol>
              </a:tblGrid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S-Corp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Partnership (LLC)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Client Goal Alignment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19531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Owner Take-Home Pay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Reduces payroll tax on distributions; more efficient long-term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self-employment tax burden on all earnings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Favorable to S-Corp (higher net cash)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244676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Compensation Structure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W-2 wages + distributions; must set reasonable comp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All income taxed as SE income; simpler but costlier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supports tax optimization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62417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QBI Treatment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W-2 wages support QBI deduction optimization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QBI reduced by SE tax calculations; less flexible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Slight advantage to S-Corp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73042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Administrative Effort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compliance: payroll, filings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Simpler admin and reporting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Partnership easier early-stage; S-Corp manageable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68100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Cash Flow Timing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Balanced wages + distributions support liquidity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tax burden reduces available cash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preserves more cash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966518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Flexibility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Earnings split via wages/distributions discipline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Flexible allocations but risk of over-distributing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preferable for planned growth structure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17901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Audit / Compliance 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Must support “reasonable compensation”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Fewer payroll-related audit triggers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Tie depends on documentation comfort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394367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Investor/Exit Readiness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Appealing for future external investment or exit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Best for closely-held, equal-partner environments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matches long-term scalability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02674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Employment Benefits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W-2 wages allow retirement/benefits planning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Limited benefit structure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better for future benefit plans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365392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Loss Utilization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W-2 wages limit early loss sheltering; basis limitations apply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Losses flow through directly (subject to basis)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Partnership favorable only if expecting large early losses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056347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Control &amp; Governance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Clear share vs. wage structure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Flexible but can create partner tension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S-Corp supports clarity as business grows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9571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200000">
            <a:off x="-4480506" y="4472698"/>
            <a:ext cx="10297776" cy="1330827"/>
            <a:chOff x="0" y="0"/>
            <a:chExt cx="14217201" cy="2176603"/>
          </a:xfrm>
        </p:grpSpPr>
        <p:sp>
          <p:nvSpPr>
            <p:cNvPr id="5" name="Freeform 5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92673" y="707206"/>
            <a:ext cx="16107894" cy="56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INTEGRATED TAX STRATEGY RECOMMENDATION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11267" y="2729148"/>
            <a:ext cx="15180841" cy="479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8"/>
              </a:lnSpc>
              <a:spcBef>
                <a:spcPct val="0"/>
              </a:spcBef>
            </a:pPr>
            <a:r>
              <a:rPr lang="en-US" sz="6432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Elect S Corporation status and purchase the property to minimize tax liability, build long-term value, and maintain strategic control.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200000">
            <a:off x="-4524162" y="4444916"/>
            <a:ext cx="10329526" cy="1386390"/>
            <a:chOff x="0" y="0"/>
            <a:chExt cx="14217201" cy="2176603"/>
          </a:xfrm>
        </p:grpSpPr>
        <p:sp>
          <p:nvSpPr>
            <p:cNvPr id="5" name="Freeform 5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92673" y="707206"/>
            <a:ext cx="16107894" cy="52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2"/>
              </a:lnSpc>
              <a:spcBef>
                <a:spcPct val="0"/>
              </a:spcBef>
            </a:pPr>
            <a:r>
              <a:rPr lang="en-US" sz="3200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</a:rPr>
              <a:t>INTEGRATED TAX STRATEGY RECOMMENDATION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7282712" y="1715903"/>
            <a:ext cx="4559611" cy="3600710"/>
          </a:xfrm>
          <a:custGeom>
            <a:avLst/>
            <a:gdLst/>
            <a:ahLst/>
            <a:cxnLst/>
            <a:rect l="l" t="t" r="r" b="b"/>
            <a:pathLst>
              <a:path w="4321486" h="4640522">
                <a:moveTo>
                  <a:pt x="0" y="0"/>
                </a:moveTo>
                <a:lnTo>
                  <a:pt x="4321486" y="0"/>
                </a:lnTo>
                <a:lnTo>
                  <a:pt x="4321486" y="4640521"/>
                </a:lnTo>
                <a:lnTo>
                  <a:pt x="0" y="464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790711" y="2566922"/>
            <a:ext cx="3551549" cy="2648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Builds Long-Term Value: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Purchasing the property locks in location security, provides depreciation tax shields, and creates equity.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242373" y="1731778"/>
            <a:ext cx="4765986" cy="3584835"/>
          </a:xfrm>
          <a:custGeom>
            <a:avLst/>
            <a:gdLst/>
            <a:ahLst/>
            <a:cxnLst/>
            <a:rect l="l" t="t" r="r" b="b"/>
            <a:pathLst>
              <a:path w="4321486" h="4640522">
                <a:moveTo>
                  <a:pt x="0" y="0"/>
                </a:moveTo>
                <a:lnTo>
                  <a:pt x="4321485" y="0"/>
                </a:lnTo>
                <a:lnTo>
                  <a:pt x="4321485" y="4640521"/>
                </a:lnTo>
                <a:lnTo>
                  <a:pt x="0" y="464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591623" y="2563747"/>
            <a:ext cx="4067486" cy="2199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Strengthens Cash Flow: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Lower ongoing tax burden means more retained earnings for reinvestment and future expansion.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4710D389-3BE8-2007-045C-526E7D723DCC}"/>
              </a:ext>
            </a:extLst>
          </p:cNvPr>
          <p:cNvSpPr/>
          <p:nvPr/>
        </p:nvSpPr>
        <p:spPr>
          <a:xfrm>
            <a:off x="2258274" y="1636528"/>
            <a:ext cx="4559611" cy="3600710"/>
          </a:xfrm>
          <a:custGeom>
            <a:avLst/>
            <a:gdLst/>
            <a:ahLst/>
            <a:cxnLst/>
            <a:rect l="l" t="t" r="r" b="b"/>
            <a:pathLst>
              <a:path w="4321486" h="4640522">
                <a:moveTo>
                  <a:pt x="0" y="0"/>
                </a:moveTo>
                <a:lnTo>
                  <a:pt x="4321486" y="0"/>
                </a:lnTo>
                <a:lnTo>
                  <a:pt x="4321486" y="4640521"/>
                </a:lnTo>
                <a:lnTo>
                  <a:pt x="0" y="464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654588-506F-5951-C1D5-856439558371}"/>
              </a:ext>
            </a:extLst>
          </p:cNvPr>
          <p:cNvSpPr txBox="1"/>
          <p:nvPr/>
        </p:nvSpPr>
        <p:spPr>
          <a:xfrm>
            <a:off x="2452686" y="2397125"/>
            <a:ext cx="4167187" cy="3511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latin typeface="Public Sans"/>
              </a:rPr>
              <a:t>Significant Tax Savings: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300">
                <a:latin typeface="Public Sans"/>
              </a:rPr>
              <a:t>S Corporation structure reduces SE tax exposure and leverages QBI deduction — ~$39,498 saved over 5 years.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endParaRPr lang="en-US" sz="2300">
              <a:latin typeface="Public Sans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39" name="Freeform 13">
            <a:extLst>
              <a:ext uri="{FF2B5EF4-FFF2-40B4-BE49-F238E27FC236}">
                <a16:creationId xmlns:a16="http://schemas.microsoft.com/office/drawing/2014/main" id="{BD051756-D400-22B7-5C7B-B5157625CE66}"/>
              </a:ext>
            </a:extLst>
          </p:cNvPr>
          <p:cNvSpPr/>
          <p:nvPr/>
        </p:nvSpPr>
        <p:spPr>
          <a:xfrm>
            <a:off x="5195149" y="5779903"/>
            <a:ext cx="4559611" cy="3600710"/>
          </a:xfrm>
          <a:custGeom>
            <a:avLst/>
            <a:gdLst/>
            <a:ahLst/>
            <a:cxnLst/>
            <a:rect l="l" t="t" r="r" b="b"/>
            <a:pathLst>
              <a:path w="4321486" h="4640522">
                <a:moveTo>
                  <a:pt x="0" y="0"/>
                </a:moveTo>
                <a:lnTo>
                  <a:pt x="4321486" y="0"/>
                </a:lnTo>
                <a:lnTo>
                  <a:pt x="4321486" y="4640521"/>
                </a:lnTo>
                <a:lnTo>
                  <a:pt x="0" y="464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13">
            <a:extLst>
              <a:ext uri="{FF2B5EF4-FFF2-40B4-BE49-F238E27FC236}">
                <a16:creationId xmlns:a16="http://schemas.microsoft.com/office/drawing/2014/main" id="{F4B6393D-6132-2285-CBE6-6500A4E20934}"/>
              </a:ext>
            </a:extLst>
          </p:cNvPr>
          <p:cNvSpPr/>
          <p:nvPr/>
        </p:nvSpPr>
        <p:spPr>
          <a:xfrm>
            <a:off x="10314835" y="5779903"/>
            <a:ext cx="4559611" cy="3600710"/>
          </a:xfrm>
          <a:custGeom>
            <a:avLst/>
            <a:gdLst/>
            <a:ahLst/>
            <a:cxnLst/>
            <a:rect l="l" t="t" r="r" b="b"/>
            <a:pathLst>
              <a:path w="4321486" h="4640522">
                <a:moveTo>
                  <a:pt x="0" y="0"/>
                </a:moveTo>
                <a:lnTo>
                  <a:pt x="4321486" y="0"/>
                </a:lnTo>
                <a:lnTo>
                  <a:pt x="4321486" y="4640521"/>
                </a:lnTo>
                <a:lnTo>
                  <a:pt x="0" y="4640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082266FD-43EE-FD3B-36C8-AF76EF4F660F}"/>
              </a:ext>
            </a:extLst>
          </p:cNvPr>
          <p:cNvSpPr txBox="1"/>
          <p:nvPr/>
        </p:nvSpPr>
        <p:spPr>
          <a:xfrm>
            <a:off x="5359524" y="6615554"/>
            <a:ext cx="4355792" cy="2648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Strategic Control &amp; Flexibility:</a:t>
            </a:r>
          </a:p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Ownership gives operational control and stability; S Corp structure supports future scaling or franchising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ED17E5BE-81FE-79F7-30A7-B20CC1219D87}"/>
              </a:ext>
            </a:extLst>
          </p:cNvPr>
          <p:cNvSpPr txBox="1"/>
          <p:nvPr/>
        </p:nvSpPr>
        <p:spPr>
          <a:xfrm>
            <a:off x="10434033" y="6617141"/>
            <a:ext cx="4321486" cy="261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Modest Compliance Cost:</a:t>
            </a:r>
          </a:p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Administrative costs are minimal relative to the tax benefits, making the strategy efficient and sustainable</a:t>
            </a:r>
          </a:p>
          <a:p>
            <a:pPr algn="ctr">
              <a:lnSpc>
                <a:spcPts val="345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200000">
            <a:off x="-4506877" y="4465219"/>
            <a:ext cx="10294496" cy="1386849"/>
            <a:chOff x="0" y="0"/>
            <a:chExt cx="14217201" cy="2176603"/>
          </a:xfrm>
        </p:grpSpPr>
        <p:sp>
          <p:nvSpPr>
            <p:cNvPr id="5" name="Freeform 5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92673" y="707206"/>
            <a:ext cx="16107894" cy="52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2"/>
              </a:lnSpc>
              <a:spcBef>
                <a:spcPct val="0"/>
              </a:spcBef>
            </a:pPr>
            <a:r>
              <a:rPr lang="en-US" sz="3200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SENSITIVITY &amp; RISK CONSIDERATIONS- CASH</a:t>
            </a:r>
            <a:endParaRPr lang="en-US" sz="3223" b="1" spc="731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795F6F-D82C-03E9-1B73-E89D8EC96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589228"/>
              </p:ext>
            </p:extLst>
          </p:nvPr>
        </p:nvGraphicFramePr>
        <p:xfrm>
          <a:off x="3106614" y="1831730"/>
          <a:ext cx="13414278" cy="75286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5713">
                  <a:extLst>
                    <a:ext uri="{9D8B030D-6E8A-4147-A177-3AD203B41FA5}">
                      <a16:colId xmlns:a16="http://schemas.microsoft.com/office/drawing/2014/main" val="3967998885"/>
                    </a:ext>
                  </a:extLst>
                </a:gridCol>
                <a:gridCol w="2235713">
                  <a:extLst>
                    <a:ext uri="{9D8B030D-6E8A-4147-A177-3AD203B41FA5}">
                      <a16:colId xmlns:a16="http://schemas.microsoft.com/office/drawing/2014/main" val="578299458"/>
                    </a:ext>
                  </a:extLst>
                </a:gridCol>
                <a:gridCol w="2235713">
                  <a:extLst>
                    <a:ext uri="{9D8B030D-6E8A-4147-A177-3AD203B41FA5}">
                      <a16:colId xmlns:a16="http://schemas.microsoft.com/office/drawing/2014/main" val="1673635389"/>
                    </a:ext>
                  </a:extLst>
                </a:gridCol>
                <a:gridCol w="2235713">
                  <a:extLst>
                    <a:ext uri="{9D8B030D-6E8A-4147-A177-3AD203B41FA5}">
                      <a16:colId xmlns:a16="http://schemas.microsoft.com/office/drawing/2014/main" val="4009770733"/>
                    </a:ext>
                  </a:extLst>
                </a:gridCol>
                <a:gridCol w="2235713">
                  <a:extLst>
                    <a:ext uri="{9D8B030D-6E8A-4147-A177-3AD203B41FA5}">
                      <a16:colId xmlns:a16="http://schemas.microsoft.com/office/drawing/2014/main" val="2766610237"/>
                    </a:ext>
                  </a:extLst>
                </a:gridCol>
                <a:gridCol w="2235713">
                  <a:extLst>
                    <a:ext uri="{9D8B030D-6E8A-4147-A177-3AD203B41FA5}">
                      <a16:colId xmlns:a16="http://schemas.microsoft.com/office/drawing/2014/main" val="2740670268"/>
                    </a:ext>
                  </a:extLst>
                </a:gridCol>
              </a:tblGrid>
              <a:tr h="476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Variant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NPV (Buy)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NPV (Lease)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Buy – Lease (</a:t>
                      </a:r>
                      <a:r>
                        <a:rPr lang="el-GR" b="1">
                          <a:solidFill>
                            <a:schemeClr val="tx1"/>
                          </a:solidFill>
                        </a:rPr>
                        <a:t>Δ)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421636"/>
                  </a:ext>
                </a:extLst>
              </a:tr>
              <a:tr h="82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6% rate, 60% bonus, FMV=debt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–12,469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+56,029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clearly ahead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1496"/>
                  </a:ext>
                </a:extLst>
              </a:tr>
              <a:tr h="82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Interest +200 bps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8% buy loan (lease unchanged)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–20,300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+48,198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still better,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advantage narrows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78784"/>
                  </a:ext>
                </a:extLst>
              </a:tr>
              <a:tr h="733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Bonus 40%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Phase-down bonus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–16,900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–71,900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+55,000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still better, small change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72349"/>
                  </a:ext>
                </a:extLst>
              </a:tr>
              <a:tr h="82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FMV –10%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Softer exit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–22,900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+45,598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still better,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meaningfully narrower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033007"/>
                  </a:ext>
                </a:extLst>
              </a:tr>
              <a:tr h="82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FMV –20%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Severe drop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–32,500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+35,998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Close(r)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; Buy ≈ Lease trajectory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196052"/>
                  </a:ext>
                </a:extLst>
              </a:tr>
              <a:tr h="476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Rent +4%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escalator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–12,469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–73,600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+61,131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advantage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widens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786884"/>
                  </a:ext>
                </a:extLst>
              </a:tr>
              <a:tr h="733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Rent +5%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escalator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–12,469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–77,900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+65,431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advantage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widens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further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863036"/>
                  </a:ext>
                </a:extLst>
              </a:tr>
              <a:tr h="82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Wages +15%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S-</a:t>
                      </a: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corp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comp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–14,200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+54,298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still better, slightly narrower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396455"/>
                  </a:ext>
                </a:extLst>
              </a:tr>
              <a:tr h="733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Wages –15%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Lower S-</a:t>
                      </a: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corp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comp (IRS risk)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–11,600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–68,498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+56,898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better; note audit risk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806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B00A-D371-4886-D0D2-39C335C2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F4B9186-B556-8195-5156-2A3F8B99D522}"/>
              </a:ext>
            </a:extLst>
          </p:cNvPr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52ACB8-AE4A-B9BC-2039-5B021DA07F27}"/>
              </a:ext>
            </a:extLst>
          </p:cNvPr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D0D5ED3-3731-BF2D-9EFB-F627C3E7D463}"/>
              </a:ext>
            </a:extLst>
          </p:cNvPr>
          <p:cNvGrpSpPr/>
          <p:nvPr/>
        </p:nvGrpSpPr>
        <p:grpSpPr>
          <a:xfrm rot="16200000">
            <a:off x="-4506877" y="4465219"/>
            <a:ext cx="10294496" cy="1386849"/>
            <a:chOff x="0" y="0"/>
            <a:chExt cx="14217201" cy="217660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7C4B4F-2FC7-7C79-2E00-7AC04A675CBE}"/>
                </a:ext>
              </a:extLst>
            </p:cNvPr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DD4A403-E1C3-2EF7-437B-4E43A00C9C4B}"/>
                </a:ext>
              </a:extLst>
            </p:cNvPr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13AA68-C55B-2F6D-8944-78920CD2322E}"/>
                </a:ext>
              </a:extLst>
            </p:cNvPr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1AD2B8-8174-079D-C044-289EB652F226}"/>
                </a:ext>
              </a:extLst>
            </p:cNvPr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A930B0D-F5EF-C14C-232F-577A52EDE777}"/>
              </a:ext>
            </a:extLst>
          </p:cNvPr>
          <p:cNvSpPr txBox="1"/>
          <p:nvPr/>
        </p:nvSpPr>
        <p:spPr>
          <a:xfrm>
            <a:off x="1492673" y="707206"/>
            <a:ext cx="16107894" cy="51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2"/>
              </a:lnSpc>
              <a:spcBef>
                <a:spcPct val="0"/>
              </a:spcBef>
            </a:pPr>
            <a:r>
              <a:rPr lang="en-US" sz="2800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SENSITIVITY &amp; RISK CONSIDERATIONS- PV OF TAXES PAID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B4AE141-3F67-A940-2B0E-7651A540F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986923"/>
              </p:ext>
            </p:extLst>
          </p:nvPr>
        </p:nvGraphicFramePr>
        <p:xfrm>
          <a:off x="2022231" y="2014903"/>
          <a:ext cx="15732096" cy="64141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2016">
                  <a:extLst>
                    <a:ext uri="{9D8B030D-6E8A-4147-A177-3AD203B41FA5}">
                      <a16:colId xmlns:a16="http://schemas.microsoft.com/office/drawing/2014/main" val="871951545"/>
                    </a:ext>
                  </a:extLst>
                </a:gridCol>
                <a:gridCol w="2622016">
                  <a:extLst>
                    <a:ext uri="{9D8B030D-6E8A-4147-A177-3AD203B41FA5}">
                      <a16:colId xmlns:a16="http://schemas.microsoft.com/office/drawing/2014/main" val="1203303169"/>
                    </a:ext>
                  </a:extLst>
                </a:gridCol>
                <a:gridCol w="2622016">
                  <a:extLst>
                    <a:ext uri="{9D8B030D-6E8A-4147-A177-3AD203B41FA5}">
                      <a16:colId xmlns:a16="http://schemas.microsoft.com/office/drawing/2014/main" val="3561581503"/>
                    </a:ext>
                  </a:extLst>
                </a:gridCol>
                <a:gridCol w="2622016">
                  <a:extLst>
                    <a:ext uri="{9D8B030D-6E8A-4147-A177-3AD203B41FA5}">
                      <a16:colId xmlns:a16="http://schemas.microsoft.com/office/drawing/2014/main" val="1312356655"/>
                    </a:ext>
                  </a:extLst>
                </a:gridCol>
                <a:gridCol w="2622016">
                  <a:extLst>
                    <a:ext uri="{9D8B030D-6E8A-4147-A177-3AD203B41FA5}">
                      <a16:colId xmlns:a16="http://schemas.microsoft.com/office/drawing/2014/main" val="3817666569"/>
                    </a:ext>
                  </a:extLst>
                </a:gridCol>
                <a:gridCol w="2622016">
                  <a:extLst>
                    <a:ext uri="{9D8B030D-6E8A-4147-A177-3AD203B41FA5}">
                      <a16:colId xmlns:a16="http://schemas.microsoft.com/office/drawing/2014/main" val="394310154"/>
                    </a:ext>
                  </a:extLst>
                </a:gridCol>
              </a:tblGrid>
              <a:tr h="570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Variant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PV Tax (Buy)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PV Tax (Lease)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Buy – Lease (</a:t>
                      </a:r>
                      <a:r>
                        <a:rPr lang="el-GR" b="1">
                          <a:solidFill>
                            <a:schemeClr val="tx1"/>
                          </a:solidFill>
                        </a:rPr>
                        <a:t>Δ)</a:t>
                      </a:r>
                      <a:endParaRPr lang="el-GR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64425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191,951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177,844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+14,107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pays less tax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15447"/>
                  </a:ext>
                </a:extLst>
              </a:tr>
              <a:tr h="11606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Interest +200 bps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189,959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177,844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+12,115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gets ≈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$1,992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more tax shield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694714"/>
                  </a:ext>
                </a:extLst>
              </a:tr>
              <a:tr h="7941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Bonus 40%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(adds ≈ +$3,200 PV tax to each)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195,151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181,044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+14,107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Gap unchanged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97411"/>
                  </a:ext>
                </a:extLst>
              </a:tr>
              <a:tr h="7941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Rent +4%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rents inflate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191,951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~175,858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+16,093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gains ≈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$1,986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tax shield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133430"/>
                  </a:ext>
                </a:extLst>
              </a:tr>
              <a:tr h="7941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Rent +5%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inflation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191,951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~175,337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+16,614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Lease gains ≈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$2,507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tax shield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48327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Wages +15%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Higher comp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~194,600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177,844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+16,756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pays ≈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$2.6K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more tax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831552"/>
                  </a:ext>
                </a:extLst>
              </a:tr>
              <a:tr h="11606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Wages –15%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Lower comp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~189,400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177,844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+11,556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Buy pays ≈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$2.5K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less tax (audit risk)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858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818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920C-C12E-3A2F-EE2C-52721324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DEAEA59-C2CE-E5F9-AE57-7153D89261D0}"/>
              </a:ext>
            </a:extLst>
          </p:cNvPr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3980A84-5B50-E187-3CB2-41E3669912BA}"/>
              </a:ext>
            </a:extLst>
          </p:cNvPr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F12A1EE-0D22-20E8-22FB-E25001DD3C95}"/>
              </a:ext>
            </a:extLst>
          </p:cNvPr>
          <p:cNvGrpSpPr/>
          <p:nvPr/>
        </p:nvGrpSpPr>
        <p:grpSpPr>
          <a:xfrm rot="16200000">
            <a:off x="-4506877" y="4465219"/>
            <a:ext cx="10294496" cy="1386849"/>
            <a:chOff x="0" y="0"/>
            <a:chExt cx="14217201" cy="217660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B55AC0-7E39-5E84-1CA0-A0480A877CA4}"/>
                </a:ext>
              </a:extLst>
            </p:cNvPr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46D0FB-C7B4-1097-C453-71C5514494D6}"/>
                </a:ext>
              </a:extLst>
            </p:cNvPr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CECD875-02D7-3613-4124-C8AD7EEF80FF}"/>
                </a:ext>
              </a:extLst>
            </p:cNvPr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FB5EBAC-3252-6B11-BA1D-54FFB9871D95}"/>
                </a:ext>
              </a:extLst>
            </p:cNvPr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15052DB-C735-2D52-7207-CF2C440D7C9A}"/>
              </a:ext>
            </a:extLst>
          </p:cNvPr>
          <p:cNvSpPr txBox="1"/>
          <p:nvPr/>
        </p:nvSpPr>
        <p:spPr>
          <a:xfrm>
            <a:off x="1619673" y="707206"/>
            <a:ext cx="16107894" cy="54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2"/>
              </a:lnSpc>
              <a:spcBef>
                <a:spcPct val="0"/>
              </a:spcBef>
            </a:pPr>
            <a:r>
              <a:rPr lang="en-US" sz="3200" b="1" spc="731">
                <a:latin typeface="Public Sans Bold"/>
              </a:rPr>
              <a:t>90-DAY IMPLEMENTATION ROADMAP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C22AF7-4902-3278-3950-1FCE23B3D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68601"/>
              </p:ext>
            </p:extLst>
          </p:nvPr>
        </p:nvGraphicFramePr>
        <p:xfrm>
          <a:off x="2254250" y="1809750"/>
          <a:ext cx="15303500" cy="69077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25875">
                  <a:extLst>
                    <a:ext uri="{9D8B030D-6E8A-4147-A177-3AD203B41FA5}">
                      <a16:colId xmlns:a16="http://schemas.microsoft.com/office/drawing/2014/main" val="913944849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1113048823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2981980836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1674778571"/>
                    </a:ext>
                  </a:extLst>
                </a:gridCol>
              </a:tblGrid>
              <a:tr h="477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Timeline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Action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Deliverable / Form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Owner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80816"/>
                  </a:ext>
                </a:extLst>
              </a:tr>
              <a:tr h="1125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Week 1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Elect S-Corporation &amp; establish reasonable compensation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Form 2553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filed with IRS; wage benchmark memo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Owners + CPA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658427"/>
                  </a:ext>
                </a:extLst>
              </a:tr>
              <a:tr h="835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Week 2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Execute property purchase &amp; financing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Closing docs; loan agreement; amortization schedule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Owners + Bank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894891"/>
                  </a:ext>
                </a:extLst>
              </a:tr>
              <a:tr h="1125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Week 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Set up payroll &amp; compliance systems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Payroll system onboarding;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Form W-4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I-9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, payroll withholding setup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Owners + Payroll Provider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795104"/>
                  </a:ext>
                </a:extLst>
              </a:tr>
              <a:tr h="835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Week 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Build depreciation &amp; cost recovery schedules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Depreciation ledger;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§179 tracker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, bonus confirmation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CPA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809324"/>
                  </a:ext>
                </a:extLst>
              </a:tr>
              <a:tr h="835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Month 2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Implement quarterly payroll tax process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EFTPS enrollment; 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Form 941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calendar established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Payroll + CPA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63553"/>
                  </a:ext>
                </a:extLst>
              </a:tr>
              <a:tr h="835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Month 3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Mid-quarter tax tune-up &amp; S-Corp basis tracker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Basis schedule; estimated tax check; QBI review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CPA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055283"/>
                  </a:ext>
                </a:extLst>
              </a:tr>
              <a:tr h="835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Ongoing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Quarterly payroll &amp; tax planning; year-end reporting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Forms 940, 941, W-2, W-3, K-1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; annual comp study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CPA + Owners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6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149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150745" y="8600704"/>
            <a:ext cx="1926124" cy="1486642"/>
          </a:xfrm>
          <a:custGeom>
            <a:avLst/>
            <a:gdLst/>
            <a:ahLst/>
            <a:cxnLst/>
            <a:rect l="l" t="t" r="r" b="b"/>
            <a:pathLst>
              <a:path w="1926124" h="1486642">
                <a:moveTo>
                  <a:pt x="0" y="0"/>
                </a:moveTo>
                <a:lnTo>
                  <a:pt x="1926123" y="0"/>
                </a:lnTo>
                <a:lnTo>
                  <a:pt x="1926123" y="1486642"/>
                </a:lnTo>
                <a:lnTo>
                  <a:pt x="0" y="148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-153132"/>
            <a:ext cx="18289003" cy="1618773"/>
          </a:xfrm>
          <a:custGeom>
            <a:avLst/>
            <a:gdLst/>
            <a:ahLst/>
            <a:cxnLst/>
            <a:rect l="l" t="t" r="r" b="b"/>
            <a:pathLst>
              <a:path w="18629069" h="3517475">
                <a:moveTo>
                  <a:pt x="0" y="0"/>
                </a:moveTo>
                <a:lnTo>
                  <a:pt x="18629069" y="0"/>
                </a:lnTo>
                <a:lnTo>
                  <a:pt x="18629069" y="3517475"/>
                </a:lnTo>
                <a:lnTo>
                  <a:pt x="0" y="3517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65" b="-1842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1028700"/>
            <a:ext cx="18288000" cy="5475330"/>
          </a:xfrm>
          <a:custGeom>
            <a:avLst/>
            <a:gdLst/>
            <a:ahLst/>
            <a:cxnLst/>
            <a:rect l="l" t="t" r="r" b="b"/>
            <a:pathLst>
              <a:path w="18288000" h="5475330">
                <a:moveTo>
                  <a:pt x="0" y="0"/>
                </a:moveTo>
                <a:lnTo>
                  <a:pt x="18288000" y="0"/>
                </a:lnTo>
                <a:lnTo>
                  <a:pt x="18288000" y="5475330"/>
                </a:lnTo>
                <a:lnTo>
                  <a:pt x="0" y="5475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6114" b="-864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4416500"/>
            <a:ext cx="18288000" cy="2867623"/>
          </a:xfrm>
          <a:custGeom>
            <a:avLst/>
            <a:gdLst/>
            <a:ahLst/>
            <a:cxnLst/>
            <a:rect l="l" t="t" r="r" b="b"/>
            <a:pathLst>
              <a:path w="18288000" h="2867623">
                <a:moveTo>
                  <a:pt x="0" y="0"/>
                </a:moveTo>
                <a:lnTo>
                  <a:pt x="18288000" y="0"/>
                </a:lnTo>
                <a:lnTo>
                  <a:pt x="18288000" y="2867622"/>
                </a:lnTo>
                <a:lnTo>
                  <a:pt x="0" y="2867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9774" r="-838" b="-1586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5807" y="6714485"/>
            <a:ext cx="18304257" cy="1675765"/>
          </a:xfrm>
          <a:custGeom>
            <a:avLst/>
            <a:gdLst/>
            <a:ahLst/>
            <a:cxnLst/>
            <a:rect l="l" t="t" r="r" b="b"/>
            <a:pathLst>
              <a:path w="18776569" h="1675765">
                <a:moveTo>
                  <a:pt x="0" y="0"/>
                </a:moveTo>
                <a:lnTo>
                  <a:pt x="18776569" y="0"/>
                </a:lnTo>
                <a:lnTo>
                  <a:pt x="18776569" y="1675764"/>
                </a:lnTo>
                <a:lnTo>
                  <a:pt x="0" y="1675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14691" b="-7057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491711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ANY QUESTIONS?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9150" y="1932366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873490"/>
            <a:ext cx="7862435" cy="86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Deloitte Fantaxtic Competition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November 7,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200000">
            <a:off x="-4511600" y="4498280"/>
            <a:ext cx="10351174" cy="1339618"/>
            <a:chOff x="0" y="0"/>
            <a:chExt cx="14217201" cy="2176603"/>
          </a:xfrm>
        </p:grpSpPr>
        <p:sp>
          <p:nvSpPr>
            <p:cNvPr id="5" name="Freeform 5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15383" y="707206"/>
            <a:ext cx="16107894" cy="56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7188" y="1624779"/>
            <a:ext cx="11485158" cy="696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9"/>
              </a:lnSpc>
            </a:pPr>
            <a:r>
              <a:rPr lang="en-US" b="1">
                <a:solidFill>
                  <a:srgbClr val="000000"/>
                </a:solidFill>
                <a:latin typeface="Playfair Display"/>
                <a:ea typeface="Public Sans Bold"/>
                <a:cs typeface="Public Sans Bold"/>
                <a:sym typeface="Public Sans Bold"/>
              </a:rPr>
              <a:t>Case Materials</a:t>
            </a:r>
            <a:endParaRPr lang="en-US" b="1">
              <a:solidFill>
                <a:srgbClr val="000000"/>
              </a:solidFill>
              <a:latin typeface="Playfair Display"/>
              <a:ea typeface="Public Sans Bold"/>
              <a:cs typeface="Public Sans Bold"/>
            </a:endParaRPr>
          </a:p>
          <a:p>
            <a:pPr marL="369570" lvl="1" indent="-184785" algn="l">
              <a:lnSpc>
                <a:spcPts val="2569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Deloitte Development LLC. FanTAXtic Regional Case Materials. Deloitte FanTAXtic Competition, 2025.</a:t>
            </a:r>
            <a:endParaRPr lang="en-US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marL="369570" lvl="1" indent="-184785" algn="l">
              <a:lnSpc>
                <a:spcPts val="2569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Deloitte Development LLC. Performance Support Materials — Regional Competition. Deloitte FanTAXtic Competition, 2025.</a:t>
            </a:r>
            <a:endParaRPr lang="en-US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marL="369570" lvl="1" indent="-184785" algn="l">
              <a:lnSpc>
                <a:spcPts val="2569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Deloitte Development LLC. Deloitte FanTAXtic Competition Overview. 2025Deloitte FanTaxtic Competition</a:t>
            </a:r>
            <a:endParaRPr lang="en-US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marL="184785" lvl="1">
              <a:lnSpc>
                <a:spcPts val="2569"/>
              </a:lnSpc>
            </a:pPr>
            <a:endParaRPr lang="en-US" b="1">
              <a:solidFill>
                <a:srgbClr val="000000"/>
              </a:solidFill>
              <a:latin typeface="Playfair Display"/>
              <a:ea typeface="+mn-lt"/>
              <a:cs typeface="+mn-lt"/>
            </a:endParaRPr>
          </a:p>
          <a:p>
            <a:pPr marL="184785" lvl="1">
              <a:lnSpc>
                <a:spcPts val="2569"/>
              </a:lnSpc>
              <a:buFont typeface="Arial"/>
            </a:pPr>
            <a:r>
              <a:rPr lang="en-US" b="1">
                <a:solidFill>
                  <a:srgbClr val="000000"/>
                </a:solidFill>
                <a:latin typeface="Playfair Display"/>
                <a:ea typeface="+mn-lt"/>
                <a:cs typeface="+mn-lt"/>
              </a:rPr>
              <a:t>Appendix B Tax Authority References (CCH / Wolters Kluwer)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latin typeface="Playfair Display"/>
                <a:ea typeface="+mn-lt"/>
                <a:cs typeface="+mn-lt"/>
              </a:rPr>
              <a:t> • Bonus depreciation &amp; §179 ordering — </a:t>
            </a:r>
            <a:r>
              <a:rPr lang="en-US" i="1">
                <a:latin typeface="Playfair Display"/>
                <a:ea typeface="+mn-lt"/>
                <a:cs typeface="+mn-lt"/>
              </a:rPr>
              <a:t>B-54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MACRS — Building 39-year SL — </a:t>
            </a:r>
            <a:r>
              <a:rPr lang="en-US" i="1">
                <a:latin typeface="Playfair Display"/>
                <a:ea typeface="+mn-lt"/>
                <a:cs typeface="+mn-lt"/>
              </a:rPr>
              <a:t>B-49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Mid-quarter convention — §179 not counted in 40% test — </a:t>
            </a:r>
            <a:r>
              <a:rPr lang="en-US" i="1">
                <a:latin typeface="Playfair Display"/>
                <a:ea typeface="+mn-lt"/>
                <a:cs typeface="+mn-lt"/>
              </a:rPr>
              <a:t>B-54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Start-up costs — §195 $5k + 180-month amortization — </a:t>
            </a:r>
            <a:r>
              <a:rPr lang="en-US" i="1">
                <a:latin typeface="Playfair Display"/>
                <a:ea typeface="+mn-lt"/>
                <a:cs typeface="+mn-lt"/>
              </a:rPr>
              <a:t>B-73–B-74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QBI §199A — owner-level deduction — </a:t>
            </a:r>
            <a:r>
              <a:rPr lang="en-US" i="1">
                <a:latin typeface="Playfair Display"/>
                <a:ea typeface="+mn-lt"/>
                <a:cs typeface="+mn-lt"/>
              </a:rPr>
              <a:t>B-83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Pass-through mechanics — partnership/S-</a:t>
            </a:r>
            <a:r>
              <a:rPr lang="en-US" err="1">
                <a:latin typeface="Playfair Display"/>
                <a:ea typeface="+mn-lt"/>
                <a:cs typeface="+mn-lt"/>
              </a:rPr>
              <a:t>corp</a:t>
            </a:r>
            <a:r>
              <a:rPr lang="en-US">
                <a:latin typeface="Playfair Display"/>
                <a:ea typeface="+mn-lt"/>
                <a:cs typeface="+mn-lt"/>
              </a:rPr>
              <a:t> flow-through — </a:t>
            </a:r>
            <a:r>
              <a:rPr lang="en-US" i="1">
                <a:latin typeface="Playfair Display"/>
                <a:ea typeface="+mn-lt"/>
                <a:cs typeface="+mn-lt"/>
              </a:rPr>
              <a:t>B-83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Interest deduction — Small business exception to §163(j) — </a:t>
            </a:r>
            <a:r>
              <a:rPr lang="en-US" i="1">
                <a:latin typeface="Playfair Display"/>
                <a:ea typeface="+mn-lt"/>
                <a:cs typeface="+mn-lt"/>
              </a:rPr>
              <a:t>B-43</a:t>
            </a:r>
            <a:br>
              <a:rPr lang="en-US" i="1">
                <a:latin typeface="Playfair Display"/>
                <a:ea typeface="+mn-lt"/>
                <a:cs typeface="+mn-lt"/>
              </a:rPr>
            </a:br>
            <a:r>
              <a:rPr lang="en-US" i="1">
                <a:latin typeface="Playfair Display"/>
                <a:ea typeface="+mn-lt"/>
                <a:cs typeface="+mn-lt"/>
              </a:rPr>
              <a:t> • </a:t>
            </a:r>
            <a:r>
              <a:rPr lang="en-US">
                <a:latin typeface="Playfair Display"/>
                <a:ea typeface="+mn-lt"/>
                <a:cs typeface="+mn-lt"/>
              </a:rPr>
              <a:t>Bonus depreciation &amp; §1245/§1250 recapture rules — </a:t>
            </a:r>
            <a:r>
              <a:rPr lang="en-US" i="1">
                <a:latin typeface="Playfair Display"/>
                <a:ea typeface="+mn-lt"/>
                <a:cs typeface="+mn-lt"/>
              </a:rPr>
              <a:t>B-64–B-65</a:t>
            </a:r>
            <a:br>
              <a:rPr lang="en-US" sz="1700" i="1">
                <a:latin typeface="Playfair Display"/>
                <a:ea typeface="+mn-lt"/>
                <a:cs typeface="+mn-lt"/>
              </a:rPr>
            </a:br>
            <a:endParaRPr lang="en-US" sz="1700" i="1">
              <a:latin typeface="Playfair Display"/>
              <a:ea typeface="Calibri"/>
              <a:cs typeface="Calibri"/>
            </a:endParaRPr>
          </a:p>
          <a:p>
            <a:pPr marL="184785" lvl="1" algn="l">
              <a:lnSpc>
                <a:spcPts val="2569"/>
              </a:lnSpc>
            </a:pPr>
            <a:endParaRPr lang="en-US" sz="1700">
              <a:solidFill>
                <a:srgbClr val="000000"/>
              </a:solidFill>
              <a:latin typeface="Public Sans"/>
              <a:ea typeface="Public Sans"/>
              <a:cs typeface="Public Sans"/>
            </a:endParaRPr>
          </a:p>
          <a:p>
            <a:pPr algn="l">
              <a:lnSpc>
                <a:spcPts val="2569"/>
              </a:lnSpc>
            </a:pPr>
            <a:endParaRPr lang="en-US" sz="1713">
              <a:solidFill>
                <a:srgbClr val="000000"/>
              </a:solidFill>
              <a:latin typeface="Public Sans"/>
              <a:ea typeface="Public Sans"/>
              <a:cs typeface="Public Sans"/>
            </a:endParaRPr>
          </a:p>
          <a:p>
            <a:pPr algn="l">
              <a:lnSpc>
                <a:spcPts val="2569"/>
              </a:lnSpc>
            </a:pPr>
            <a:endParaRPr lang="en-US" sz="1700" b="1">
              <a:solidFill>
                <a:srgbClr val="000000"/>
              </a:solidFill>
              <a:latin typeface="Public Sans Bold"/>
              <a:ea typeface="Public Sans"/>
              <a:cs typeface="Public Sans"/>
            </a:endParaRPr>
          </a:p>
          <a:p>
            <a:pPr>
              <a:lnSpc>
                <a:spcPts val="2569"/>
              </a:lnSpc>
            </a:pPr>
            <a:endParaRPr lang="en-US" sz="1713">
              <a:solidFill>
                <a:srgbClr val="000000"/>
              </a:solidFill>
              <a:latin typeface="Public Sans"/>
              <a:ea typeface="Public Sans"/>
              <a:cs typeface="Public Sans"/>
            </a:endParaRPr>
          </a:p>
          <a:p>
            <a:pPr>
              <a:lnSpc>
                <a:spcPts val="2569"/>
              </a:lnSpc>
              <a:spcBef>
                <a:spcPct val="0"/>
              </a:spcBef>
            </a:pPr>
            <a:endParaRPr lang="en-US" sz="1713">
              <a:solidFill>
                <a:srgbClr val="000000"/>
              </a:solidFill>
              <a:latin typeface="Public Sans"/>
              <a:ea typeface="Public Sans"/>
              <a:cs typeface="Public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492684" y="1457683"/>
            <a:ext cx="16230594" cy="38509"/>
          </a:xfrm>
          <a:prstGeom prst="line">
            <a:avLst/>
          </a:prstGeom>
          <a:ln w="9525" cap="flat">
            <a:solidFill>
              <a:srgbClr val="038E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9579" y="8945466"/>
            <a:ext cx="1479443" cy="1141880"/>
          </a:xfrm>
          <a:custGeom>
            <a:avLst/>
            <a:gdLst/>
            <a:ahLst/>
            <a:cxnLst/>
            <a:rect l="l" t="t" r="r" b="b"/>
            <a:pathLst>
              <a:path w="1479443" h="1141880">
                <a:moveTo>
                  <a:pt x="0" y="0"/>
                </a:moveTo>
                <a:lnTo>
                  <a:pt x="1479442" y="0"/>
                </a:lnTo>
                <a:lnTo>
                  <a:pt x="1479442" y="1141880"/>
                </a:lnTo>
                <a:lnTo>
                  <a:pt x="0" y="1141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16200000">
            <a:off x="-4511600" y="4498280"/>
            <a:ext cx="10351174" cy="1339618"/>
            <a:chOff x="0" y="0"/>
            <a:chExt cx="14217201" cy="2176603"/>
          </a:xfrm>
        </p:grpSpPr>
        <p:sp>
          <p:nvSpPr>
            <p:cNvPr id="5" name="Freeform 5"/>
            <p:cNvSpPr/>
            <p:nvPr/>
          </p:nvSpPr>
          <p:spPr>
            <a:xfrm>
              <a:off x="10194629" y="0"/>
              <a:ext cx="4022572" cy="2176603"/>
            </a:xfrm>
            <a:custGeom>
              <a:avLst/>
              <a:gdLst/>
              <a:ahLst/>
              <a:cxnLst/>
              <a:rect l="l" t="t" r="r" b="b"/>
              <a:pathLst>
                <a:path w="4022572" h="2176603">
                  <a:moveTo>
                    <a:pt x="0" y="0"/>
                  </a:moveTo>
                  <a:lnTo>
                    <a:pt x="4022572" y="0"/>
                  </a:lnTo>
                  <a:lnTo>
                    <a:pt x="4022572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64" b="-115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3869516" y="0"/>
              <a:ext cx="3266946" cy="2176603"/>
            </a:xfrm>
            <a:custGeom>
              <a:avLst/>
              <a:gdLst/>
              <a:ahLst/>
              <a:cxnLst/>
              <a:rect l="l" t="t" r="r" b="b"/>
              <a:pathLst>
                <a:path w="3266946" h="2176603">
                  <a:moveTo>
                    <a:pt x="0" y="0"/>
                  </a:moveTo>
                  <a:lnTo>
                    <a:pt x="3266947" y="0"/>
                  </a:lnTo>
                  <a:lnTo>
                    <a:pt x="3266947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7136463" y="0"/>
              <a:ext cx="3058166" cy="2176603"/>
            </a:xfrm>
            <a:custGeom>
              <a:avLst/>
              <a:gdLst/>
              <a:ahLst/>
              <a:cxnLst/>
              <a:rect l="l" t="t" r="r" b="b"/>
              <a:pathLst>
                <a:path w="3058166" h="2176603">
                  <a:moveTo>
                    <a:pt x="0" y="0"/>
                  </a:moveTo>
                  <a:lnTo>
                    <a:pt x="3058166" y="0"/>
                  </a:lnTo>
                  <a:lnTo>
                    <a:pt x="305816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250" b="-202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3869516" cy="2176603"/>
            </a:xfrm>
            <a:custGeom>
              <a:avLst/>
              <a:gdLst/>
              <a:ahLst/>
              <a:cxnLst/>
              <a:rect l="l" t="t" r="r" b="b"/>
              <a:pathLst>
                <a:path w="3869516" h="2176603">
                  <a:moveTo>
                    <a:pt x="0" y="0"/>
                  </a:moveTo>
                  <a:lnTo>
                    <a:pt x="3869516" y="0"/>
                  </a:lnTo>
                  <a:lnTo>
                    <a:pt x="3869516" y="2176603"/>
                  </a:lnTo>
                  <a:lnTo>
                    <a:pt x="0" y="2176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15383" y="707206"/>
            <a:ext cx="16107894" cy="56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 spc="73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AI DISCLOSURE SLIDE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0495" y="2120080"/>
            <a:ext cx="15420072" cy="579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This presentation was developed with the assistance of AI tools to support drafting, structuring, and scenario planning.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Tools Used: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marL="496570" lvl="1" indent="-248285" algn="l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ChatGPT (OpenAI): For language refinement, scenario framing, presentation structure, and clarifying relevant U.S. tax authority codes (e.g., IRC §162, §199A).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marL="496570" lvl="1" indent="-248285" algn="l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Microsoft Excel: For tax calculations, NPV modeling, and sensitivity analysis.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All financial assumptions, calculations, and recommendations were reviewed and verified by the preparers to ensure accuracy and alignment with professional and regulatory standards.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layfair Display"/>
                <a:ea typeface="Public Sans"/>
                <a:cs typeface="Public Sans"/>
                <a:sym typeface="Public Sans"/>
              </a:rPr>
              <a:t>AI tools were used as supporting resources, not as decision-makers.</a:t>
            </a:r>
            <a:endParaRPr lang="en-US" sz="2300">
              <a:solidFill>
                <a:srgbClr val="000000"/>
              </a:solidFill>
              <a:latin typeface="Playfair Display"/>
              <a:ea typeface="Public Sans"/>
              <a:cs typeface="Public Sans"/>
            </a:endParaRPr>
          </a:p>
          <a:p>
            <a:pPr algn="l">
              <a:lnSpc>
                <a:spcPts val="3450"/>
              </a:lnSpc>
            </a:pPr>
            <a:endParaRPr lang="en-US" sz="23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45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3733</Words>
  <Application>Microsoft Macintosh PowerPoint</Application>
  <PresentationFormat>Custom</PresentationFormat>
  <Paragraphs>1310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Public Sans Bold</vt:lpstr>
      <vt:lpstr>Arial</vt:lpstr>
      <vt:lpstr>Public Sans</vt:lpstr>
      <vt:lpstr>Playfair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Deloitte FanTAXtic Case Competition - Miami University</dc:title>
  <cp:lastModifiedBy>Mladenovska, Anastasija</cp:lastModifiedBy>
  <cp:revision>3</cp:revision>
  <dcterms:created xsi:type="dcterms:W3CDTF">2006-08-16T00:00:00Z</dcterms:created>
  <dcterms:modified xsi:type="dcterms:W3CDTF">2025-11-05T19:03:40Z</dcterms:modified>
  <dc:identifier>DAG3B_NPRns</dc:identifier>
</cp:coreProperties>
</file>